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1b83545014194" /><Relationship Type="http://schemas.openxmlformats.org/officeDocument/2006/relationships/extended-properties" Target="/docProps/app.xml" Id="R1135230956504f17" /><Relationship Type="http://schemas.openxmlformats.org/officeDocument/2006/relationships/officeDocument" Target="/ppt/presentation.xml" Id="R7ee1b1d64cab4d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319393d1648de"/>
  </p:sldMasterIdLst>
  <p:notesMasterIdLst>
    <p:notesMasterId xmlns:r="http://schemas.openxmlformats.org/officeDocument/2006/relationships" r:id="Rc97911d0ba2d4e16"/>
  </p:notesMasterIdLst>
  <p:sldIdLst>
    <p:sldId xmlns:r="http://schemas.openxmlformats.org/officeDocument/2006/relationships" id="256" r:id="R59a5f3988dde49ef"/>
    <p:sldId xmlns:r="http://schemas.openxmlformats.org/officeDocument/2006/relationships" id="257" r:id="R54a820bd16224c51"/>
    <p:sldId xmlns:r="http://schemas.openxmlformats.org/officeDocument/2006/relationships" id="258" r:id="Rafd9150375c54c50"/>
    <p:sldId xmlns:r="http://schemas.openxmlformats.org/officeDocument/2006/relationships" id="259" r:id="R5e500f782f8240f4"/>
    <p:sldId xmlns:r="http://schemas.openxmlformats.org/officeDocument/2006/relationships" id="260" r:id="Rc4cb721d6d034e60"/>
    <p:sldId xmlns:r="http://schemas.openxmlformats.org/officeDocument/2006/relationships" id="261" r:id="Re1fa50db6a5e48ff"/>
    <p:sldId xmlns:r="http://schemas.openxmlformats.org/officeDocument/2006/relationships" id="262" r:id="Rbdd26551fe4148c3"/>
    <p:sldId xmlns:r="http://schemas.openxmlformats.org/officeDocument/2006/relationships" id="263" r:id="R25c94020297b4ddf"/>
    <p:sldId xmlns:r="http://schemas.openxmlformats.org/officeDocument/2006/relationships" id="264" r:id="Rfdac101bd4224410"/>
    <p:sldId xmlns:r="http://schemas.openxmlformats.org/officeDocument/2006/relationships" id="265" r:id="R859a1d0bd7e54007"/>
    <p:sldId xmlns:r="http://schemas.openxmlformats.org/officeDocument/2006/relationships" id="266" r:id="R52d20343845c49a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bc38b8fd5b4b6a" /><Relationship Type="http://schemas.openxmlformats.org/officeDocument/2006/relationships/slideMaster" Target="/ppt/slideMasters/slideMaster1.xml" Id="Rbf6319393d1648de" /><Relationship Type="http://schemas.openxmlformats.org/officeDocument/2006/relationships/notesMaster" Target="/ppt/notesMasters/notesMaster1.xml" Id="Rc97911d0ba2d4e16" /><Relationship Type="http://schemas.openxmlformats.org/officeDocument/2006/relationships/presProps" Target="/ppt/presProps.xml" Id="R0338d2c2a51b4b17" /><Relationship Type="http://schemas.openxmlformats.org/officeDocument/2006/relationships/viewProps" Target="/ppt/viewProps.xml" Id="Rcc125d1b832546f0" /><Relationship Type="http://schemas.openxmlformats.org/officeDocument/2006/relationships/tableStyles" Target="/ppt/tableStyles.xml" Id="Ra0bb92cded9242f5" /><Relationship Type="http://schemas.openxmlformats.org/officeDocument/2006/relationships/slide" Target="/ppt/slides/slide1.xml" Id="R59a5f3988dde49ef" /><Relationship Type="http://schemas.openxmlformats.org/officeDocument/2006/relationships/slide" Target="/ppt/slides/slide2.xml" Id="R54a820bd16224c51" /><Relationship Type="http://schemas.openxmlformats.org/officeDocument/2006/relationships/slide" Target="/ppt/slides/slide3.xml" Id="Rafd9150375c54c50" /><Relationship Type="http://schemas.openxmlformats.org/officeDocument/2006/relationships/slide" Target="/ppt/slides/slide4.xml" Id="R5e500f782f8240f4" /><Relationship Type="http://schemas.openxmlformats.org/officeDocument/2006/relationships/slide" Target="/ppt/slides/slide5.xml" Id="Rc4cb721d6d034e60" /><Relationship Type="http://schemas.openxmlformats.org/officeDocument/2006/relationships/slide" Target="/ppt/slides/slide6.xml" Id="Re1fa50db6a5e48ff" /><Relationship Type="http://schemas.openxmlformats.org/officeDocument/2006/relationships/slide" Target="/ppt/slides/slide7.xml" Id="Rbdd26551fe4148c3" /><Relationship Type="http://schemas.openxmlformats.org/officeDocument/2006/relationships/slide" Target="/ppt/slides/slide8.xml" Id="R25c94020297b4ddf" /><Relationship Type="http://schemas.openxmlformats.org/officeDocument/2006/relationships/slide" Target="/ppt/slides/slide9.xml" Id="Rfdac101bd4224410" /><Relationship Type="http://schemas.openxmlformats.org/officeDocument/2006/relationships/slide" Target="/ppt/slides/slide10.xml" Id="R859a1d0bd7e54007" /><Relationship Type="http://schemas.openxmlformats.org/officeDocument/2006/relationships/slide" Target="/ppt/slides/slide11.xml" Id="R52d20343845c49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1b2ad8960247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ace44a9474359" /><Relationship Type="http://schemas.openxmlformats.org/officeDocument/2006/relationships/notesMaster" Target="/ppt/notesMasters/notesMaster1.xml" Id="Ra0e2ac7a21e143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9b8a0d106a4249" /><Relationship Type="http://schemas.openxmlformats.org/officeDocument/2006/relationships/notesMaster" Target="/ppt/notesMasters/notesMaster1.xml" Id="R244bd0b08fe849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eccf4d9dca4a27" /><Relationship Type="http://schemas.openxmlformats.org/officeDocument/2006/relationships/notesMaster" Target="/ppt/notesMasters/notesMaster1.xml" Id="R80148c8c7c5748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051f58d9b145c6" /><Relationship Type="http://schemas.openxmlformats.org/officeDocument/2006/relationships/notesMaster" Target="/ppt/notesMasters/notesMaster1.xml" Id="Rfc7fb7733e0648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ee3b421b8d4672" /><Relationship Type="http://schemas.openxmlformats.org/officeDocument/2006/relationships/notesMaster" Target="/ppt/notesMasters/notesMaster1.xml" Id="Rcbe3513c8a494a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530f37dcb84e7a" /><Relationship Type="http://schemas.openxmlformats.org/officeDocument/2006/relationships/notesMaster" Target="/ppt/notesMasters/notesMaster1.xml" Id="R54349d98601e4f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818a13f26d4ab8" /><Relationship Type="http://schemas.openxmlformats.org/officeDocument/2006/relationships/notesMaster" Target="/ppt/notesMasters/notesMaster1.xml" Id="Raa87b523f5b841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c4d02d740c4e2a" /><Relationship Type="http://schemas.openxmlformats.org/officeDocument/2006/relationships/notesMaster" Target="/ppt/notesMasters/notesMaster1.xml" Id="Rc8d324bd1b734a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cc505c5f434a57" /><Relationship Type="http://schemas.openxmlformats.org/officeDocument/2006/relationships/notesMaster" Target="/ppt/notesMasters/notesMaster1.xml" Id="Rf1591f740a0f4b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dc2eae67a144bd" /><Relationship Type="http://schemas.openxmlformats.org/officeDocument/2006/relationships/notesMaster" Target="/ppt/notesMasters/notesMaster1.xml" Id="R2ecd80459ae046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ea2273fb234f42" /><Relationship Type="http://schemas.openxmlformats.org/officeDocument/2006/relationships/notesMaster" Target="/ppt/notesMasters/notesMaster1.xml" Id="Rb0a9a68050aa42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dd8b4b58644c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ab00b1a91c4f25" /><Relationship Type="http://schemas.openxmlformats.org/officeDocument/2006/relationships/slideLayout" Target="/ppt/slideLayouts/slideLayout1.xml" Id="Ra2469784b31441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469784b314411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b1b30b9fb47b8" /><Relationship Type="http://schemas.openxmlformats.org/officeDocument/2006/relationships/image" Target="/ppt/media/image.png" Id="R84c675994a0642e1" /><Relationship Type="http://schemas.openxmlformats.org/officeDocument/2006/relationships/notesSlide" Target="/ppt/notesSlides/notesSlide1.xml" Id="R1eb3dbe8899547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d887c1b6241eb" /><Relationship Type="http://schemas.openxmlformats.org/officeDocument/2006/relationships/image" Target="/ppt/media/image.png" Id="R061a3d699166458a" /><Relationship Type="http://schemas.openxmlformats.org/officeDocument/2006/relationships/notesSlide" Target="/ppt/notesSlides/notesSlide2.xml" Id="Rd52181fcafe14c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e0a78aad43b1" /><Relationship Type="http://schemas.openxmlformats.org/officeDocument/2006/relationships/image" Target="/ppt/media/image.png" Id="R9bb54e8ae6ff43c7" /><Relationship Type="http://schemas.openxmlformats.org/officeDocument/2006/relationships/notesSlide" Target="/ppt/notesSlides/notesSlide3.xml" Id="R0b4809faeff245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89d56e6074a3d" /><Relationship Type="http://schemas.openxmlformats.org/officeDocument/2006/relationships/image" Target="/ppt/media/image.png" Id="R632212ee282842bf" /><Relationship Type="http://schemas.openxmlformats.org/officeDocument/2006/relationships/notesSlide" Target="/ppt/notesSlides/notesSlide4.xml" Id="R5f89c8bf51364a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4300af82148b9" /><Relationship Type="http://schemas.openxmlformats.org/officeDocument/2006/relationships/image" Target="/ppt/media/image2.png" Id="R7969fb5afc9a44bf" /><Relationship Type="http://schemas.openxmlformats.org/officeDocument/2006/relationships/notesSlide" Target="/ppt/notesSlides/notesSlide5.xml" Id="R10cf0ee243d24b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22e8237264f26" /><Relationship Type="http://schemas.openxmlformats.org/officeDocument/2006/relationships/image" Target="/ppt/media/image.png" Id="R195c215be10c4b6f" /><Relationship Type="http://schemas.openxmlformats.org/officeDocument/2006/relationships/notesSlide" Target="/ppt/notesSlides/notesSlide6.xml" Id="R69fc8327224249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0a024e9c6449c" /><Relationship Type="http://schemas.openxmlformats.org/officeDocument/2006/relationships/image" Target="/ppt/media/image.png" Id="Rd36f286356e64f8d" /><Relationship Type="http://schemas.openxmlformats.org/officeDocument/2006/relationships/notesSlide" Target="/ppt/notesSlides/notesSlide7.xml" Id="Rdb3044f681284b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9bd0119574c79" /><Relationship Type="http://schemas.openxmlformats.org/officeDocument/2006/relationships/image" Target="/ppt/media/image.png" Id="Rf6f3fbdf9ae64e50" /><Relationship Type="http://schemas.openxmlformats.org/officeDocument/2006/relationships/notesSlide" Target="/ppt/notesSlides/notesSlide8.xml" Id="Rfcb1f57513d348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0a23665b74ede" /><Relationship Type="http://schemas.openxmlformats.org/officeDocument/2006/relationships/image" Target="/ppt/media/image.png" Id="Rb10156aef822485d" /><Relationship Type="http://schemas.openxmlformats.org/officeDocument/2006/relationships/notesSlide" Target="/ppt/notesSlides/notesSlide9.xml" Id="R9081e0bc1cf747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806282b6440f0" /><Relationship Type="http://schemas.openxmlformats.org/officeDocument/2006/relationships/image" Target="/ppt/media/image.png" Id="R38d6330a30a54769" /><Relationship Type="http://schemas.openxmlformats.org/officeDocument/2006/relationships/notesSlide" Target="/ppt/notesSlides/notesSlide10.xml" Id="Ra150392086564d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f0781af1d430d" /><Relationship Type="http://schemas.openxmlformats.org/officeDocument/2006/relationships/image" Target="/ppt/media/image2.png" Id="R0993caae0dc44b49" /><Relationship Type="http://schemas.openxmlformats.org/officeDocument/2006/relationships/notesSlide" Target="/ppt/notesSlides/notesSlide11.xml" Id="R1b3620e9422e4a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675994a06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7432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4C6547B-8F27-4BEE-95D3-063642F9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spc="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GEO-SICHTBARKEITS-AUDIT · VKB</a:t>
            </a:r>
            <a:endParaRPr sz="1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97B46A7-4FD0-4548-BB8E-6C420614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Score schlägt nicht Realität</a:t>
            </a:r>
            <a:endParaRPr sz="4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EC49990-9AA4-478A-B382-6E94610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GEO-Sichtbarkeit zweier VKB-Vertriebspartner in LLM-Suchanfragen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68031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2D27DD-A914-4852-9B79-894BF19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KONTEXT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680AA4-D1FF-4D2D-88E4-B85E52C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Zwei Partner, ein einheitlicher Test-Aufbau</a:t>
            </a:r>
            <a:endParaRPr sz="32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a3d699166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ECB60E-4423-4396-821E-5232F85C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01</a:t>
            </a:r>
            <a:endParaRPr sz="2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8BCA82F-A51B-41D2-886F-64E2B7C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3852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Geprüfte Partner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55ACF51-6B78-4740-AE56-CDF0A2B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93852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Kretschmer &amp; Schweiger oHG  ·  Versicherungsbüro VBG Daniela Mütze (vkb.de/vbg)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6171D0-FBA0-4A98-B5C7-64EB7DE0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02</a:t>
            </a:r>
            <a:endParaRPr sz="2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7661ECC-9E0E-47F2-8D11-636117B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0720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Datenbasis</a:t>
            </a:r>
            <a:endParaRPr sz="16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C8DA494-30EC-44DE-88FE-3C6C299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80720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Checkion GEO-Audit je Partner: 3 Personas, 8 Prompts, je 10 LLM-Modelle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A10E3BE-48FE-4C20-84BA-1875369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03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ECD4553-132E-4143-AE24-B130472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7588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Fragestellung</a:t>
            </a:r>
            <a:endParaRPr sz="1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38E1D2-2B4C-43D3-8231-144E976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7588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Wird der Partner in KI-generierten Antworten zitiert bzw. empfohlen — und wenn ja, wo?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A7075F6-0349-43E3-8369-5DA36E37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58484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B776D7-69EC-477D-8D56-C3522E4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PERSONA-PORTFOLIO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1839BF-48DF-4AB0-83A9-5CD9A280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Wer hinter den Testfragen steht</a:t>
            </a:r>
            <a:endParaRPr sz="3200"/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54e8ae6ff43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A0BE656-653C-40EF-906B-C2548B5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KRETSCHMER &amp; SCHWEIGER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7D0E662-35AE-4EA7-8D17-76E4EBD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Sabine Koller</a:t>
            </a:r>
            <a:endParaRPr sz="1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D864D97-EDF4-4142-8363-BC0B729E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911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Risikoavers, will festen Ansprechpartner, der alles von Haftpflicht bis Altersvorsorge im Blick hat.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8BF2EC5-2A62-4E46-B8B6-A431DD1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Markus Huber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3FA3240-E78D-4646-B4E7-FF0212FC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067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Zeitknapp, will schnellen, klaren Überblick zu Einkommensschutz/BU ohne Massenberatung.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0392E25-1EDE-4E34-9D3B-FDCB1E1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Aylin Demir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48A7118-E938-45D2-A7F7-F95CC58B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223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Gerade nach Haar gezogen, im Aufbau von Haushalt/Familie, offen für Beratung, sucht langfristige Begleitung.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DBB7861-F231-4F58-A9F0-663CD883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VBG DANIELA MÜTZE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0154089-A612-45BD-995F-6C1C414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83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Sabine Moser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539602D-7C5E-48FC-9B96-D76D4A9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03911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Risiko-sichernde Vertrauenskäuferin aus Feldkirchen, will persönliche Termine und nachvollziehbare Erklärungen statt Fachbegriffe.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AAF94A-073B-4AC1-A21F-135FAC4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3464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Markus Leitner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3719AC7-FCEC-4232-B39F-BF6A2F52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9067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Effizienter Pragmatiker, will kurze klare Schritte und verlässliche Ansprechperson bei Lebensereignissen (Jobwechsel, Umzug, Nachwuchs).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FC173C1-8133-4530-A734-5A5A312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8862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Elisabeth Graf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D0C6ED0-91A1-49D2-99F2-694D4E4C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4223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Detailgetriebene Gestalterin, denkt in Szenarien, erwartet konsistente Gesamtstrategie statt Einzelprodukte.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A302619-A27E-46D0-8C61-388E2F6F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417320"/>
            <a:ext cx="9144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B0E2A56-E0CA-4DDF-A187-08FAD2B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67140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C6A154-DFFF-44B0-8136-748078D1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KERNZAHLEN IM VERGLEICH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C29A8F-9F47-401B-96AF-9958CF2D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Höherer Score, keine Zitierung</a:t>
            </a:r>
            <a:endParaRPr sz="32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212ee2828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4E0B2B0-EA99-43FD-8D39-AF22464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828C7F-3B77-4D51-BD97-8BF039B1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01</a:t>
            </a:r>
            <a:endParaRPr sz="2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995199-B659-4AAE-A94F-FE0F169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Domainscore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E918187-695C-4795-A694-701E3DF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Kretschmer &amp; Schweiger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0C43B72-A725-4366-8901-13B1819F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80 / 100</a:t>
            </a:r>
            <a:endParaRPr sz="2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295BD7E-4546-4FE7-96F1-7106080D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VBG Daniela Mütze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7831C7C-ED4F-4AD7-9AAF-7A0B30B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74 / 100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C1FF65-4240-431C-8C1F-8186DB2E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Kretschmer &amp; Schweiger liegt vorn — auf dem Papier.</a:t>
            </a:r>
            <a:endParaRPr sz="1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A889EDC-FF23-4D5A-BE68-F0C9BD69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256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CE9709F-100C-4C50-8357-999EB3B8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02</a:t>
            </a:r>
            <a:endParaRPr sz="2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B63F0B4-9D9B-41C1-BE52-C750A7C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Zitierungen von 8 Prompts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FA68660-8A1D-48CF-85B5-623D0E8D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Kretschmer &amp; Schweiger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9647A16-325F-4C99-95EF-9012E6C6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 von 8</a:t>
            </a:r>
            <a:endParaRPr sz="2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6F925E5-1941-4FD3-9932-FBE39C30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VBG Daniela Mütze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F7D3C93-307C-41E1-8779-83015CC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5 von 8</a:t>
            </a:r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3EA2621-B955-4550-AAF7-3957DAAA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Sichtbarkeit dreht die Reihenfolge komplett um.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7949EF-BF99-4BA3-8F2C-CCE8E1E1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6A58C8C-55E7-4792-8ABB-12F09D4B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03</a:t>
            </a:r>
            <a:endParaRPr sz="2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66836B8-C07B-47C6-946A-8E48D81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Beste erreichte Position</a:t>
            </a:r>
            <a:endParaRPr sz="14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B0DE89F-0BFF-4A38-A0A7-53E253E0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Kretschmer &amp; Schweiger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80FB9AE-A86D-4BD3-B720-C4407B2C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— (keine)</a:t>
            </a:r>
            <a:endParaRPr sz="2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FDDE9BD-7C32-4916-A745-DEC548DC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VBG Daniela Mütze</a:t>
            </a:r>
            <a:endParaRPr sz="1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29463DA-BF31-4C56-B825-9A724BF4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Platz 1 (Nische)</a:t>
            </a:r>
            <a:endParaRPr sz="18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D885779-6D2E-4101-99B3-F446A9DA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VBG holt Top-Platzierungen bei Nischenfragen.</a:t>
            </a:r>
            <a:endParaRPr sz="1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678D58F-6999-4482-830A-BDE8C60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00556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9fb5afc9a44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405689B-3FD7-469D-934E-1B1FAD1C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KERNERKENNTNIS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21428A-E008-4853-AD39-274C669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78638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Der </a:t>
            </a: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höhere</a:t>
            </a: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Domaincore</a:t>
            </a: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 hilft nichts, wenn kein Modell den Partner zitiert.
</a:t>
            </a:r>
            <a:r>
              <a:rPr sz="1600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Kretschmer &amp; Schweiger (58 Punkte) ist bei allen 8 Fragen unsichtbar. VBG Daniela Mütze (48 Punkte) wird bei 5 von 8 Fragen zitiert — zweimal auf Platz 1 bzw. 2.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21C8363-C72F-4458-8E94-7D53E980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93114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26CE0A-7658-44E7-B047-6E2E9D20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KRETSCHMER &amp; SCHWEIGER OHG · ERGEBNIS JE FRAGE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A23909-72ED-4916-82A9-0D14EDA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Acht Fragen, acht Mal unsichtbar</a:t>
            </a:r>
            <a:endParaRPr sz="3200"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c215be10c4b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52F6D10-5AC0-42CC-8B94-8AA3C157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Erste eigene Wohnung in Haar</a:t>
            </a:r>
            <a:endParaRPr sz="13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61473D2-0CAC-4D39-9107-532C717C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5713F05-A69C-4B91-B19E-F80C3E4C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7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Langfristiger Berater in Haar/München Ost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75B56AD-EFFB-43D7-85F0-8B8D638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67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63F5B25-D705-4C06-9322-6258489E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40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Persönliche Beratung in Vaterstetten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97FED14-FEE9-4B19-BB8B-C40337A7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340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DBD4FAB-5E61-407E-9556-77D0E6B0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098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Familie &amp; Haus in Grasbrunn absichern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DF2F441-F05A-4749-8981-1990A80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0098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243299E-1433-4BE1-BCA4-A3CFB284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0020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Versicherungen für junge Leute Trudering-Riem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1B53700-089E-461E-90E1-2975D6C9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29AB9BB-2833-45F2-A896-EA793278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67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Familienplanung &amp; Reihenfolge in Haar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6087E2F-5B8B-4485-9DDF-887003E8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67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EDA9B18-9C52-4302-BA6C-0065336D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340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Altersvorsorge Erwachsenen-Haushalt Putzbrunn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1F63D15-A757-42C5-A3AD-0A8D9DD7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340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BA5D726-BA96-4A78-B5ED-6F1CEC37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0098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Unabhängige Vermittler für junge Familie München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8822EED-C75E-4456-A0F1-223F3D47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30098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F411B83-5618-4FA5-9E43-1BC2B549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00200"/>
            <a:ext cx="9144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064CCD5-DBCB-4101-B6FE-83226D9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Acht unterschiedliche Alltagsfragen, acht unterschiedliche Standorte im Münchner Umland — bei keiner der 80 Modell-Antworten (8 Fragen × 10 Modelle) wird Kretschmer &amp; Schweiger zitiert.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9FCF33C-E810-4F6A-9A80-0661401C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24957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04CC93-F14A-4D23-9978-2793C782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VBG DANIELA MÜTZE · ERGEBNIS JE FRAGE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FFE38B-109D-4C30-9BC0-4699F7B5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Nische gewinnt, Mainstream verliert</a:t>
            </a:r>
            <a:endParaRPr sz="320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f286356e6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0476CA5-C944-410F-8008-608219B1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MAINSTREAM-FRAGEN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82B2DC2-2972-486D-9E1F-98EE5776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Versicherungsberater in Feldkirchen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4165EE8-9D85-4DD5-9335-2B937E0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0312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C395ECC-3B98-43E0-B88F-9D6B56FE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4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Familie &amp; Eigenheim Feldkirchen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E0541-6A5D-4F18-9B6E-6249D70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054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981B05C-C169-470E-828E-D1C5B7B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7792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Neue Wohnung Feldkirchen/Kirchheim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6EBA7F2-FDA7-4B4A-95A3-A3C642C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07792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Platz 4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91F3C4D-DB23-44E6-8FE4-A23621A8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0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Mieter-Haftpflicht Feldkirchen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4272AB-BBC2-4D64-A34C-AF23BF1F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10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E5F4B8-A93F-4999-B7D2-0C711659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246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Familie &amp; Eigenheim Kirchheim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3A833BB-B66F-46AD-9499-28E6A74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246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Platz 6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87E9DD-2D3F-45B4-B83B-3BBEC40B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3736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NISCHEN-FRAGEN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8FC6913-EB38-41B4-ACA2-7B9668A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Persönliche Beratung Aschheim/Feldkirchen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684E899-C89E-407A-A5EF-52D2494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Platz 2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74BD7AA-E858-4329-8EC9-5336196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054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Landwirtschaftliche Betriebe Münchner Osten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EA4A442-6B9B-4E07-BA4B-4A5C231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5054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DE8407E-A73B-4DC4-84F9-5192D50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Selbstständige/kleine Unternehmen Aschheim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310011F-E8E2-4BC6-8BA4-96339EC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907792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13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2EDAE18-2C25-4280-8C8D-9305D836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37360"/>
            <a:ext cx="9144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EAC49E5-8869-4B25-9C54-FA09F40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Bei den vier alltäglichen Standardfragen verliert VBG durchgehend gegen check24.de — die Top-Platzierungen betreffen ausschließlich spezifische, wenig umkämpfte Nischenfragen.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82B405E-48FD-4CF8-9127-0846E9A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68350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C1D036-F49F-4F64-82A2-2D10CD6E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WARUM DAS SO IST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B0FF67-B71A-4E38-832D-92921BDD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check24.de dominiert, E-E-A-T-Lücken bremsen</a:t>
            </a:r>
            <a:endParaRPr sz="32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3fbdf9ae64e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29EC49-5549-4D74-AB2F-625D5424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840480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FD1325E-97C0-4BC9-B0CF-BFC3D920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PLATZHIRSCH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FC2669A-3236-41AF-983A-15126DCB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check24.de dominiert bei beiden Partnern</a:t>
            </a:r>
            <a:endParaRPr sz="1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7A7599C-C01A-49EE-BD1C-65CF0EFE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474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Kretschmer &amp; Schweiger: 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check24.de auf Platz 1 bei 4 von 8 Fragen
</a:t>
            </a: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VBG: 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check24.de auf Platz 1 bei 3 von 8 Fragen
</a:t>
            </a:r>
            <a:r>
              <a:rPr sz="1200" i="1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Genau dort, wo der Partner selbst nicht vorkommt.</a:t>
            </a:r>
            <a:endParaRPr sz="12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0909F01-A2CA-4858-8458-27A40A00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83080"/>
            <a:ext cx="3840480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127AC6-D7E6-42A3-9314-13D38DE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5960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E-E-A-T-LÜCKE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1D94D5-23A0-4394-A1DB-30A39066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Unterschiedliche Ursache, gleiches Symptom</a:t>
            </a:r>
            <a:endParaRPr sz="1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088EEFD-AF28-4CCE-8F70-F8E05551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6080"/>
            <a:ext cx="3474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Kretschmer &amp; Schweiger — Erfahrung (40/100): 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keine Fallbeispiele, keine nachprüfbaren Prozesse
</a:t>
            </a: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VBG — Vertrauen (40/100): 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fehlende Impressum-, Datenschutz- und Über-uns-Signale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7ADEAA4-ACAE-46A7-83E5-ACF2A3A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94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156aef82248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B700732-AE97-4160-AE12-32A5DD98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05840"/>
            <a:ext cx="7498080" cy="32918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F1F9C28-18F8-4E6A-844D-7541A0D0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28016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EINORDNUNG</a:t>
            </a:r>
            <a:endParaRPr sz="1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0C7187A-B14D-4D34-8051-08482451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00200"/>
            <a:ext cx="6949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Die Technik ist bei beiden solide — die Schwäche liegt im Content</a:t>
            </a:r>
            <a:endParaRPr sz="26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9A19C86-D0C9-40DD-834E-B50A609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88920"/>
            <a:ext cx="69494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Domain-Scores von 80 (Kretschmer &amp; Schweiger) und 74 (VBG) liegen klar über dem Referenzwert. Es fehlt strukturierter, zitierfähiger Content: FAQ-Schema, HowTo-Schema, Breadcrumbs sowie Autoren- und Expertise-Angaben — bei beiden Partnern identisch.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1FEEB1B-48EC-4B3F-88CB-D917A8C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59580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2E7E35-2CEA-498F-9A30-2242C6E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HANDLUNGSEMPFEHLUNGEN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C44237-6773-4F0F-B148-53F568D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Drei Prioritäten, klarer Hebel</a:t>
            </a:r>
            <a:endParaRPr sz="3200"/>
          </a:p>
        </p:txBody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6330a30a5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7BE9D14-D010-4DEC-A23F-B930D51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1B2B73-90B3-4030-A1B4-74AFA2A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3624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6A3B"/>
                </a:solidFill>
                <a:latin typeface="Noto Sans JP"/>
                <a:ea typeface="Noto Sans JP"/>
                <a:cs typeface="Noto Sans JP"/>
              </a:rPr>
              <a:t>P1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A42B6B5-3A0D-4B51-BC4A-31A001A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490472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Beide Partner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B0CDC1B-B491-413E-B082-A269676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490472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Kurze, klar zitierfähige Antwortblöcke (Definition + Fakten + Ansprechpartner) für Fragen ergänzen, bei denen check24.de aktuell Platz 1 belegt.</a:t>
            </a:r>
            <a:endParaRPr sz="13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B46B3BB-79E5-4D45-9D67-9294F20C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0592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60CE1E-D5B5-434D-A4E7-3D646B96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456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P2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7C44DC5-8063-42CC-8D52-C42FA3FF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432304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VBG — höchster Hebel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3E98ED5-3347-43F4-B2C0-D2B84C62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32304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Vertrauenssignale sichtbar machen: Impressum, Datenschutz, Über-uns/Bio mit Qualifikationen. VBG wird bereits bei 5 von 8 Fragen zitiert — größte kurzfristige Wirkung.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0A404AB-16D4-4962-A359-855FD6C8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2424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77A7B5C-E6ED-46FE-B202-3B46DC3C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7288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CA55"/>
                </a:solidFill>
                <a:latin typeface="Noto Sans JP"/>
                <a:ea typeface="Noto Sans JP"/>
                <a:cs typeface="Noto Sans JP"/>
              </a:rPr>
              <a:t>P3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79F8AB4-74C6-4284-86E8-006872FD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74136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Kretschmer &amp; Schweiger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9F756F4-3C4E-49E5-8E56-38F5C75E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374136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Erfahrungs-Dimension ausbauen: Fallbeispiele, Kennzahlen, nachprüfbare Beratungsprozesse. Ziel: von 0 auf erste Zitierungen bei den 8 Kernfragen.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DD270E1-E620-4987-A9DC-6B26F4B8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Für beide: FAQ- und HowTo-Schema sowie Breadcrumb-Struktur ergänzen — identische strukturelle Lücke, direkter Hebel für generative Suche.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D617EE8-2471-48BA-AC25-F59B8B6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01500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3caae0dc4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CBBFF27-7FEF-4F41-9033-CAFB6A1F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FAZIT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7D3D903-A00E-4D77-A00E-C47B1AD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863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2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Der eigentliche Wettbewerber ist nicht Allianz oder Check24 —</a:t>
            </a:r>
            <a:endParaRPr sz="260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2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es ist die Masse an „sonstigen“ Quellen.</a:t>
            </a:r>
            <a:endParaRPr sz="2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7467721-5CA3-4012-B519-13775EE5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Beide Partner liegen weit über dem Wettbewerbs-Schnitt (+41 / +32 Punkte), aber deutlich hinter der Sammelkategorie „other“ (73–74 % Sichtbarkeitsanteil). Der Hebel: aus der Masse als konkret zitierbare, benannte Quelle heraustreten.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72BFB4F-A50F-475A-AB37-BC5E426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Vollständiger Fragenkatalog im Wortlaut (16 Prompts) siehe Anhang des Checkion-Audit-Reports.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C5251-0D32-4E71-B875-4CE4F6E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11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4048453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2026-08-25T20:15:50.6830000Z</dcterms:created>
  <dcterms:modified xsi:type="dcterms:W3CDTF">2026-08-25T20:15:50.6830000Z</dcterms:modified>
</coreProperties>
</file>