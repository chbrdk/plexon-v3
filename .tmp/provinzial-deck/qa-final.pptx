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172333ab5a4016" /><Relationship Type="http://schemas.openxmlformats.org/officeDocument/2006/relationships/extended-properties" Target="/docProps/app.xml" Id="Rcb7bcb81cd244b3b" /><Relationship Type="http://schemas.openxmlformats.org/officeDocument/2006/relationships/officeDocument" Target="/ppt/presentation.xml" Id="R761e308b8bd04e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34847e76da4a91"/>
  </p:sldMasterIdLst>
  <p:notesMasterIdLst>
    <p:notesMasterId xmlns:r="http://schemas.openxmlformats.org/officeDocument/2006/relationships" r:id="Rd319fd77295945d8"/>
  </p:notesMasterIdLst>
  <p:sldIdLst>
    <p:sldId xmlns:r="http://schemas.openxmlformats.org/officeDocument/2006/relationships" id="256" r:id="Redd5401956534a83"/>
    <p:sldId xmlns:r="http://schemas.openxmlformats.org/officeDocument/2006/relationships" id="257" r:id="Rec3dc0b0356742d7"/>
    <p:sldId xmlns:r="http://schemas.openxmlformats.org/officeDocument/2006/relationships" id="258" r:id="Ref47a56720de4049"/>
    <p:sldId xmlns:r="http://schemas.openxmlformats.org/officeDocument/2006/relationships" id="259" r:id="R010f8e2e00964d71"/>
    <p:sldId xmlns:r="http://schemas.openxmlformats.org/officeDocument/2006/relationships" id="260" r:id="R49a257be0ad74f45"/>
    <p:sldId xmlns:r="http://schemas.openxmlformats.org/officeDocument/2006/relationships" id="261" r:id="Rf687713f03104d9b"/>
    <p:sldId xmlns:r="http://schemas.openxmlformats.org/officeDocument/2006/relationships" id="262" r:id="Rf87644fe19f242cb"/>
    <p:sldId xmlns:r="http://schemas.openxmlformats.org/officeDocument/2006/relationships" id="263" r:id="R6b187984b30b4c8d"/>
    <p:sldId xmlns:r="http://schemas.openxmlformats.org/officeDocument/2006/relationships" id="264" r:id="R5a4c249e8158484f"/>
    <p:sldId xmlns:r="http://schemas.openxmlformats.org/officeDocument/2006/relationships" id="265" r:id="Rb16954e5987840c0"/>
    <p:sldId xmlns:r="http://schemas.openxmlformats.org/officeDocument/2006/relationships" id="266" r:id="Rc60751a7c1ba42a7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4f1508b91746b2" /><Relationship Type="http://schemas.openxmlformats.org/officeDocument/2006/relationships/slideMaster" Target="/ppt/slideMasters/slideMaster1.xml" Id="Ree34847e76da4a91" /><Relationship Type="http://schemas.openxmlformats.org/officeDocument/2006/relationships/notesMaster" Target="/ppt/notesMasters/notesMaster1.xml" Id="Rd319fd77295945d8" /><Relationship Type="http://schemas.openxmlformats.org/officeDocument/2006/relationships/presProps" Target="/ppt/presProps.xml" Id="R0edce9b55f224e6c" /><Relationship Type="http://schemas.openxmlformats.org/officeDocument/2006/relationships/viewProps" Target="/ppt/viewProps.xml" Id="R5a6766e45c2643e1" /><Relationship Type="http://schemas.openxmlformats.org/officeDocument/2006/relationships/tableStyles" Target="/ppt/tableStyles.xml" Id="R193a766fc35d4913" /><Relationship Type="http://schemas.openxmlformats.org/officeDocument/2006/relationships/slide" Target="/ppt/slides/slide1.xml" Id="Redd5401956534a83" /><Relationship Type="http://schemas.openxmlformats.org/officeDocument/2006/relationships/slide" Target="/ppt/slides/slide2.xml" Id="Rec3dc0b0356742d7" /><Relationship Type="http://schemas.openxmlformats.org/officeDocument/2006/relationships/slide" Target="/ppt/slides/slide3.xml" Id="Ref47a56720de4049" /><Relationship Type="http://schemas.openxmlformats.org/officeDocument/2006/relationships/slide" Target="/ppt/slides/slide4.xml" Id="R010f8e2e00964d71" /><Relationship Type="http://schemas.openxmlformats.org/officeDocument/2006/relationships/slide" Target="/ppt/slides/slide5.xml" Id="R49a257be0ad74f45" /><Relationship Type="http://schemas.openxmlformats.org/officeDocument/2006/relationships/slide" Target="/ppt/slides/slide6.xml" Id="Rf687713f03104d9b" /><Relationship Type="http://schemas.openxmlformats.org/officeDocument/2006/relationships/slide" Target="/ppt/slides/slide7.xml" Id="Rf87644fe19f242cb" /><Relationship Type="http://schemas.openxmlformats.org/officeDocument/2006/relationships/slide" Target="/ppt/slides/slide8.xml" Id="R6b187984b30b4c8d" /><Relationship Type="http://schemas.openxmlformats.org/officeDocument/2006/relationships/slide" Target="/ppt/slides/slide9.xml" Id="R5a4c249e8158484f" /><Relationship Type="http://schemas.openxmlformats.org/officeDocument/2006/relationships/slide" Target="/ppt/slides/slide10.xml" Id="Rb16954e5987840c0" /><Relationship Type="http://schemas.openxmlformats.org/officeDocument/2006/relationships/slide" Target="/ppt/slides/slide11.xml" Id="Rc60751a7c1ba42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2e548c7ce8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ca4c68a7574749" /><Relationship Type="http://schemas.openxmlformats.org/officeDocument/2006/relationships/notesMaster" Target="/ppt/notesMasters/notesMaster1.xml" Id="R49dad3a617334d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fd69adb489419d" /><Relationship Type="http://schemas.openxmlformats.org/officeDocument/2006/relationships/notesMaster" Target="/ppt/notesMasters/notesMaster1.xml" Id="R5e92f7f6a2ed4f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6a8c0984a341c4" /><Relationship Type="http://schemas.openxmlformats.org/officeDocument/2006/relationships/notesMaster" Target="/ppt/notesMasters/notesMaster1.xml" Id="R14c46558de0a49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8fecd5e9564607" /><Relationship Type="http://schemas.openxmlformats.org/officeDocument/2006/relationships/notesMaster" Target="/ppt/notesMasters/notesMaster1.xml" Id="R91c798164cc146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86b6c275a54bec" /><Relationship Type="http://schemas.openxmlformats.org/officeDocument/2006/relationships/notesMaster" Target="/ppt/notesMasters/notesMaster1.xml" Id="Re06389266013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5463aaaffb42ac" /><Relationship Type="http://schemas.openxmlformats.org/officeDocument/2006/relationships/notesMaster" Target="/ppt/notesMasters/notesMaster1.xml" Id="Re9b8d510b14a47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859fe414a943a0" /><Relationship Type="http://schemas.openxmlformats.org/officeDocument/2006/relationships/notesMaster" Target="/ppt/notesMasters/notesMaster1.xml" Id="R40a71a797a894a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2c4fc41fc443c9" /><Relationship Type="http://schemas.openxmlformats.org/officeDocument/2006/relationships/notesMaster" Target="/ppt/notesMasters/notesMaster1.xml" Id="R7604cd0ad7cd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3e9a7001764cbe" /><Relationship Type="http://schemas.openxmlformats.org/officeDocument/2006/relationships/notesMaster" Target="/ppt/notesMasters/notesMaster1.xml" Id="Ra6a2a79c93cf4c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e05423faa148d4" /><Relationship Type="http://schemas.openxmlformats.org/officeDocument/2006/relationships/notesMaster" Target="/ppt/notesMasters/notesMaster1.xml" Id="Rc6836e782b3f48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52253545b34644" /><Relationship Type="http://schemas.openxmlformats.org/officeDocument/2006/relationships/notesMaster" Target="/ppt/notesMasters/notesMaster1.xml" Id="R4eb70bdf7a41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1, 6–9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1, 6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4–5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1, 6, 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6, 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6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6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6–7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2–3, 7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8–9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1, 6–9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a8b6369cc461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ce898448514dd9" /><Relationship Type="http://schemas.openxmlformats.org/officeDocument/2006/relationships/slideLayout" Target="/ppt/slideLayouts/slideLayout1.xml" Id="R62d2cd74291b4a8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d2cd74291b4a8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7b05380974574" /><Relationship Type="http://schemas.openxmlformats.org/officeDocument/2006/relationships/image" Target="/ppt/media/image.png" Id="R5f88909194b44a11" /><Relationship Type="http://schemas.openxmlformats.org/officeDocument/2006/relationships/notesSlide" Target="/ppt/notesSlides/notesSlide1.xml" Id="R0824d58243824e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235fbb1c44621" /><Relationship Type="http://schemas.openxmlformats.org/officeDocument/2006/relationships/image" Target="/ppt/media/image.png" Id="R21a648f2684e49ee" /><Relationship Type="http://schemas.openxmlformats.org/officeDocument/2006/relationships/notesSlide" Target="/ppt/notesSlides/notesSlide2.xml" Id="R54fb8e2d34f349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a40feb3564791" /><Relationship Type="http://schemas.openxmlformats.org/officeDocument/2006/relationships/image" Target="/ppt/media/image.png" Id="R0ce462ae55ab45f6" /><Relationship Type="http://schemas.openxmlformats.org/officeDocument/2006/relationships/notesSlide" Target="/ppt/notesSlides/notesSlide3.xml" Id="R1c2997bb538b49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4c237f04645f6" /><Relationship Type="http://schemas.openxmlformats.org/officeDocument/2006/relationships/image" Target="/ppt/media/image.png" Id="Rb077c0bdaa2a412a" /><Relationship Type="http://schemas.openxmlformats.org/officeDocument/2006/relationships/notesSlide" Target="/ppt/notesSlides/notesSlide4.xml" Id="R16a0cecbe2eb4e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e9ca7963041c1" /><Relationship Type="http://schemas.openxmlformats.org/officeDocument/2006/relationships/image" Target="/ppt/media/image2.png" Id="Ref46b88700144ea4" /><Relationship Type="http://schemas.openxmlformats.org/officeDocument/2006/relationships/notesSlide" Target="/ppt/notesSlides/notesSlide5.xml" Id="R3a7ebd2f084e4a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184cf4d614c78" /><Relationship Type="http://schemas.openxmlformats.org/officeDocument/2006/relationships/image" Target="/ppt/media/image.png" Id="R3eec6c8ee25d4fa4" /><Relationship Type="http://schemas.openxmlformats.org/officeDocument/2006/relationships/notesSlide" Target="/ppt/notesSlides/notesSlide6.xml" Id="Ra23bee415b57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5fded92a04ffd" /><Relationship Type="http://schemas.openxmlformats.org/officeDocument/2006/relationships/image" Target="/ppt/media/image.png" Id="R12c4a8fe50ad4fa9" /><Relationship Type="http://schemas.openxmlformats.org/officeDocument/2006/relationships/notesSlide" Target="/ppt/notesSlides/notesSlide7.xml" Id="Rc1c0681db643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fc01f7c424293" /><Relationship Type="http://schemas.openxmlformats.org/officeDocument/2006/relationships/image" Target="/ppt/media/image.png" Id="R9c0c5b387aeb4ab6" /><Relationship Type="http://schemas.openxmlformats.org/officeDocument/2006/relationships/notesSlide" Target="/ppt/notesSlides/notesSlide8.xml" Id="R8ccda4d495cf42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6770dc9aa4ac5" /><Relationship Type="http://schemas.openxmlformats.org/officeDocument/2006/relationships/image" Target="/ppt/media/image.png" Id="Rcc554f6771504f5d" /><Relationship Type="http://schemas.openxmlformats.org/officeDocument/2006/relationships/notesSlide" Target="/ppt/notesSlides/notesSlide9.xml" Id="R5e7ac588aeab4f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f0a110bea4010" /><Relationship Type="http://schemas.openxmlformats.org/officeDocument/2006/relationships/image" Target="/ppt/media/image.png" Id="Re87749d48fc04542" /><Relationship Type="http://schemas.openxmlformats.org/officeDocument/2006/relationships/notesSlide" Target="/ppt/notesSlides/notesSlide10.xml" Id="R0a83bbcebc1b4c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499a22b954c6f" /><Relationship Type="http://schemas.openxmlformats.org/officeDocument/2006/relationships/image" Target="/ppt/media/image2.png" Id="Rcdf456bd23444639" /><Relationship Type="http://schemas.openxmlformats.org/officeDocument/2006/relationships/notesSlide" Target="/ppt/notesSlides/notesSlide11.xml" Id="Re2fdabbbcdc34b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56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8909194b44a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7432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4C6547B-8F27-4BEE-95D3-063642F9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spc="10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GEO-SICHTBARKEITS-AUDIT · PROVINZIAL</a:t>
            </a:r>
            <a:endParaRPr sz="1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97B46A7-4FD0-4548-BB8E-6C420614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Sichtbar, aber kaum zitierbar</a:t>
            </a:r>
            <a:endParaRPr sz="4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EC49990-9AA4-478A-B382-6E94610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Quick Check für provinzial.de/west: Domainqualität, GEO-Wettbewerb und konkrete Content-Hebel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68031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2D27DD-A914-4852-9B79-894BF19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QUICK CHECK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680AA4-D1FF-4D2D-88E4-B85E52C8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Ein Quick Check, drei Perspektiven</a:t>
            </a:r>
            <a:endParaRPr sz="32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648f2684e49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ECB60E-4423-4396-821E-5232F85C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640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01</a:t>
            </a:r>
            <a:endParaRPr sz="2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8BCA82F-A51B-41D2-886F-64E2B7C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3852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Untersuchte Domain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55ACF51-6B78-4740-AE56-CDF0A2B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938528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provinzial.de/west · 50 Seiten · Domain-Score 73 · 6 A11y-Fehler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6171D0-FBA0-4A98-B5C7-64EB7DE0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640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02</a:t>
            </a:r>
            <a:endParaRPr sz="2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7661ECC-9E0E-47F2-8D11-636117B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0720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Analyse-Bausteine</a:t>
            </a:r>
            <a:endParaRPr sz="16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C8DA494-30EC-44DE-88FE-3C6C2990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807208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Domain-Scan, 4 Personas und GEO-Audit mit 8 Prompts in 7 Modellen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A10E3BE-48FE-4C20-84BA-1875369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640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03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ECD4553-132E-4143-AE24-B130472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7588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Leitfrage</a:t>
            </a:r>
            <a:endParaRPr sz="1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38E1D2-2B4C-43D3-8231-144E976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675888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Wie wird Provinzial zur zitierfähigen Quelle statt nur zur sichtbaren Marke?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A7075F6-0349-43E3-8369-5DA36E37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58484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B776D7-69EC-477D-8D56-C3522E4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PERSONA-PORTFOLIO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1839BF-48DF-4AB0-83A9-5CD9A280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Vier Personas, zwei Suchwelten</a:t>
            </a:r>
            <a:endParaRPr sz="3200"/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462ae55ab45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A0BE656-653C-40EF-906B-C2548B54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F6A3B"/>
                </a:solidFill>
                <a:latin typeface="IBM Plex Mono"/>
                <a:ea typeface="IBM Plex Mono"/>
                <a:cs typeface="IBM Plex Mono"/>
              </a:rPr>
              <a:t>PRIVATKUNDEN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7D0E662-35AE-4EA7-8D17-76E4EBD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Sabrina Weber</a:t>
            </a:r>
            <a:endParaRPr sz="1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D864D97-EDF4-4142-8363-BC0B729E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911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Sicherheitsorientiert; sucht verständliche Beratung, transparente Kosten und lokale Nähe.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8BF2EC5-2A62-4E46-B8B6-A431DD1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Markus Klein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3FA3240-E78D-4646-B4E7-FF0212FC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067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Zeitknapp, datenbasiert; will Prioritäten, Vergleichbarkeit und digitale Unterlagen.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0392E25-1EDE-4E34-9D3B-FDCB1E16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Gemeinsamer Suchmodus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48A7118-E938-45D2-A7F7-F95CC58B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223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Familie und Eigenheim, regionale Beratung und klare nächste Schritte.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DBB7861-F231-4F58-A9F0-663CD883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GEWERBEKUNDEN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0154089-A612-45BD-995F-6C1C414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83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Markus Schneider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539602D-7C5E-48FC-9B96-D76D4A9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03911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Risikoabwägend; braucht klare Deckungsgrenzen und wenig Verwaltung.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EAAF94A-073B-4AC1-A21F-135FAC4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3464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Sabrina Köhler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3719AC7-FCEC-4232-B39F-BF6A2F52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09067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Zeitkritisch; erwartet flexible Deckung und einen schnellen Start.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FC173C1-8133-4530-A734-5A5A312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8862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Gemeinsamer Suchmodus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D0C6ED0-91A1-49D2-99F2-694D4E4C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4223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Gewerbeschutz, fester Ansprechpartner und skalierbare Prozesse.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A302619-A27E-46D0-8C61-388E2F6F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417320"/>
            <a:ext cx="9144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8E8"/>
          </a:solidFill>
          <a:ln xmlns:a="http://schemas.openxmlformats.org/drawingml/2006/main" w="6350">
            <a:solidFill>
              <a:srgbClr val="EAE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B0E2A56-E0CA-4DDF-A187-08FAD2B9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67140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C6A154-DFFF-44B0-8136-748078D1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KERNZAHLEN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C29A8F-9F47-401B-96AF-9958CF2D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Solide Basis, schwache GEO-Präsenz</a:t>
            </a:r>
            <a:endParaRPr sz="32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7c0bdaa2a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4E0B2B0-EA99-43FD-8D39-AF22464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2606040" cy="30632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7828C7F-3B77-4D51-BD97-8BF039B1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01</a:t>
            </a:r>
            <a:endParaRPr sz="2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995199-B659-4AAE-A94F-FE0F169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93392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Domain-Score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E918187-695C-4795-A694-701E3DF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provinzial.de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0C43B72-A725-4366-8901-13B1819F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73 / 100</a:t>
            </a:r>
            <a:endParaRPr sz="2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295BD7E-4546-4FE7-96F1-7106080D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50 Seiten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7831C7C-ED4F-4AD7-9AAF-7A0B30B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6 Fehler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C1FF65-4240-431C-8C1F-8186DB2E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Solide technische Basis.</a:t>
            </a:r>
            <a:endParaRPr sz="1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A889EDC-FF23-4D5A-BE68-F0C9BD69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80" y="1463040"/>
            <a:ext cx="2606040" cy="30632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256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CE9709F-100C-4C50-8357-999EB3B8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160020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02</a:t>
            </a:r>
            <a:endParaRPr sz="2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B63F0B4-9D9B-41C1-BE52-C750A7C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1993392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GEO-Score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FA68660-8A1D-48CF-85B5-623D0E8D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251460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Provinzial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9647A16-325F-4C99-95EF-9012E6C6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274320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46 / 100</a:t>
            </a:r>
            <a:endParaRPr sz="2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6F925E5-1941-4FD3-9932-FBE39C30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24612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Wettbewerbs-Schnitt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F7D3C93-307C-41E1-8779-83015CC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47472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14 / 100</a:t>
            </a:r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3EA2621-B955-4550-AAF7-3957DAAA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97764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Provinzial liegt 32 Punkte darüber.</a:t>
            </a:r>
            <a:endParaRPr sz="1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7949EF-BF99-4BA3-8F2C-CCE8E1E1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463040"/>
            <a:ext cx="2606040" cy="30632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6A58C8C-55E7-4792-8ABB-12F09D4B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03</a:t>
            </a:r>
            <a:endParaRPr sz="2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66836B8-C07B-47C6-946A-8E48D81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93392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Sichtbarkeitsanteil</a:t>
            </a:r>
            <a:endParaRPr sz="14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B0DE89F-0BFF-4A38-A0A7-53E253E0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1460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Provinzial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80FB9AE-A86D-4BD3-B720-C4407B2C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74320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3 %</a:t>
            </a:r>
            <a:endParaRPr sz="2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FDDE9BD-7C32-4916-A745-DEC548DC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4612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Ø Position</a:t>
            </a:r>
            <a:endParaRPr sz="1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29463DA-BF31-4C56-B825-9A724BF4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7472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4,4</a:t>
            </a:r>
            <a:endParaRPr sz="18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D885779-6D2E-4101-99B3-F446A9DA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Rang 6 im Wettbewerberfeld.</a:t>
            </a:r>
            <a:endParaRPr sz="1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678D58F-6999-4482-830A-BDE8C60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00556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6b88700144e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405689B-3FD7-469D-934E-1B1FAD1C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KERNERKENNTNIS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21428A-E008-4853-AD39-274C669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78638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77 % der Antworten verweisen auf „other“ — trotz solider Basis.</a:t>
            </a: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
</a:t>
            </a:r>
            <a:r>
              <a:rPr sz="1600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Provinzial erreicht GEO-Score 46 und liegt 32 Punkte über dem Wettbewerbs-Schnitt. Trotzdem beträgt der Sichtbarkeitsanteil nur 3 %; bei 2 von 8 Prompts wird die Domain gar nicht zitiert.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21C8363-C72F-4458-8E94-7D53E980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93114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26CE0A-7658-44E7-B047-6E2E9D20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PROVINZIAL.DE · ERGEBNIS JE FRAGE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A23909-72ED-4916-82A9-0D14EDA8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Acht Fragen, zwei Mal unsichtbar</a:t>
            </a:r>
            <a:endParaRPr sz="3200"/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c6c8ee25d4f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52F6D10-5AC0-42CC-8B94-8AA3C157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Junge Familie &amp; Eigenheim</a:t>
            </a:r>
            <a:endParaRPr sz="13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61473D2-0CAC-4D39-9107-532C717C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10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5713F05-A69C-4B91-B19E-F80C3E4C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6712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Regionaler Berater in Düren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75B56AD-EFFB-43D7-85F0-8B8D638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6712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63F5B25-D705-4C06-9322-6258489E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40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Lokal vs. bundesweit (Bonn)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97FED14-FEE9-4B19-BB8B-C40337A7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340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DBD4FAB-5E61-407E-9556-77D0E6B0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0984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Pflichtschutz beim Hauskauf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DF2F441-F05A-4749-8981-1990A80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0098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14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243299E-1433-4BE1-BCA4-A3CFB284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0020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Regionaler Berater in Hürth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1B53700-089E-461E-90E1-2975D6C9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17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29AB9BB-2833-45F2-A896-EA793278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6712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Anbietervergleich für Familien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6087E2F-5B8B-4485-9DDF-887003E8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6712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EDA9B18-9C52-4302-BA6C-0065336D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340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Gewerbeschutz für Mittelstand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1F63D15-A757-42C5-A3AD-0A8D9DD7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340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14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BA5D726-BA96-4A78-B5ED-6F1CEC37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00984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Gewerbeversicherer in Münster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8822EED-C75E-4456-A0F1-223F3D47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30098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F411B83-5618-4FA5-9E43-1BC2B549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00200"/>
            <a:ext cx="9144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8E8"/>
          </a:solidFill>
          <a:ln xmlns:a="http://schemas.openxmlformats.org/drawingml/2006/main" w="6350">
            <a:solidFill>
              <a:srgbClr val="EAE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064CCD5-DBCB-4101-B6FE-83226D9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Stark bei lokalen und spezifischen Fragen, unsichtbar bei Beratungssuche und Anbietervergleich. Basis: 8 Prompts × 7 Modelle.</a:t>
            </a:r>
            <a:endParaRPr sz="1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9FCF33C-E810-4F6A-9A80-0661401C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24957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04CC93-F14A-4D23-9978-2793C782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MUSTER IM PROMPT-SET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FFE38B-109D-4C30-9BC0-4699F7B5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Lokalität gewinnt, Vergleich verliert</a:t>
            </a:r>
            <a:endParaRPr sz="320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4a8fe50ad4f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0476CA5-C944-410F-8008-608219B1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F6A3B"/>
                </a:solidFill>
                <a:latin typeface="IBM Plex Mono"/>
                <a:ea typeface="IBM Plex Mono"/>
                <a:cs typeface="IBM Plex Mono"/>
              </a:rPr>
              <a:t>VERGLEICH &amp; MAINSTREAM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82B2DC2-2972-486D-9E1F-98EE5776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Regionaler Berater in Düren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4165EE8-9D85-4DD5-9335-2B937E01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0312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C395ECC-3B98-43E0-B88F-9D6B56FE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4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Anbietervergleich für Familien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E0541-6A5D-4F18-9B6E-6249D70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054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981B05C-C169-470E-828E-D1C5B7BB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7792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Pflichtschutz beim Hauskauf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6EBA7F2-FDA7-4B4A-95A3-A3C642C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07792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Platz 14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91F3C4D-DB23-44E6-8FE4-A23621A8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012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Gewerbeschutz Mittelstand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84272AB-BBC2-4D64-A34C-AF23BF1F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1012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14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E5F4B8-A93F-4999-B7D2-0C711659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2464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Regionaler Berater in Hürth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3A833BB-B66F-46AD-9499-28E6A742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246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Platz 17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87E9DD-2D3F-45B4-B83B-3BBEC40B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3736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LOKAL &amp; SPEZIFISCH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8FC6913-EB38-41B4-ACA2-7B9668A0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0312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Bonn: lokal vs. bundesweit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684E899-C89E-407A-A5EF-52D2494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Platz 1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74BD7AA-E858-4329-8EC9-5336196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054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Münster: fester Ansprechpartner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EA4A442-6B9B-4E07-BA4B-4A5C231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5054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Platz 1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DE8407E-A73B-4DC4-84F9-5192D50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Junge Familie &amp; Eigenheim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310011F-E8E2-4BC6-8BA4-96339EC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907792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10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2EDAE18-2C25-4280-8C8D-9305D836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737360"/>
            <a:ext cx="9144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8E8"/>
          </a:solidFill>
          <a:ln xmlns:a="http://schemas.openxmlformats.org/drawingml/2006/main" w="6350">
            <a:solidFill>
              <a:srgbClr val="EAE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EAC49E5-8869-4B25-9C54-FA09F40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Die besten Rankings entstehen dort, wo Region und konkrete Lebens- oder Betriebslage zusammentreffen; generische Vergleichsfragen besetzen Wettbewerber.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82B405E-48FD-4CF8-9127-0846E9A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68350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C1D036-F49F-4F64-82A2-2D10CD6E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WARUM DAS SO IST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B0FF67-B71A-4E38-832D-92921BDD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„other“ dominiert, E-E-A-T-Lücken bremsen</a:t>
            </a:r>
            <a:endParaRPr sz="32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c5b387aeb4a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F29EC49-5549-4D74-AB2F-625D5424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840480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FD1325E-97C0-4BC9-B0CF-BFC3D920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WETTBEWERBSBILD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FC2669A-3236-41AF-983A-15126DCB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77 % Sichtbarkeit entfallen auf „other“</a:t>
            </a:r>
            <a:endParaRPr sz="16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7A7599C-C01A-49EE-BD1C-65CF0EFE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474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Provinzial:</a:t>
            </a: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 3 % Sichtbarkeit · Ø Position 4,4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
</a:t>
            </a: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Allianz / check24:</a:t>
            </a: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 5 % / 3 % Sichtbarkeit im Wettbewerberfeld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
</a:t>
            </a:r>
            <a:r>
              <a:rPr sz="1200" i="1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Die Konkurrenz ist fragmentiert — konkrete Quellen gewinnen.</a:t>
            </a:r>
            <a:endParaRPr sz="12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0909F01-A2CA-4858-8458-27A40A00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83080"/>
            <a:ext cx="3840480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A127AC6-D7E6-42A3-9314-13D38DE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5960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E-E-A-T-LÜCKE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B1D94D5-23A0-4394-A1DB-30A39066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Struktur gut, Details nicht zitierbar</a:t>
            </a:r>
            <a:endParaRPr sz="1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088EEFD-AF28-4CCE-8F70-F8E05551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6080"/>
            <a:ext cx="3474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Vertrauen &amp; Erfahrung — 40/100:</a:t>
            </a: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 kaum sichtbare Trust-Signale, keine Fälle oder Prozesse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
</a:t>
            </a: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Fachkompetenz &amp; Autorität — 60/100:</a:t>
            </a: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 gute Cluster, aber 0 FAQ-/Zitiersignale und keine HowTo-/Breadcrumb-Struktur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7ADEAA4-ACAE-46A7-83E5-ACF2A3A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94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54f6771504f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B700732-AE97-4160-AE12-32A5DD98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05840"/>
            <a:ext cx="7498080" cy="32918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F1F9C28-18F8-4E6A-844D-7541A0D0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28016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EINORDNUNG</a:t>
            </a:r>
            <a:endParaRPr sz="1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0C7187A-B14D-4D34-8051-08482451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600200"/>
            <a:ext cx="6949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Die Technik trägt — der Content begrenzt die Sichtbarkeit</a:t>
            </a:r>
            <a:endParaRPr sz="26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9A19C86-D0C9-40DD-834E-B50A609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88920"/>
            <a:ext cx="69494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Domain-Score 73 und 50 geprüfte Seiten zeigen eine belastbare Basis. Doch 86 % des Corpus sind sehr komplex; FAQ, HowTo, Breadcrumbs, Author-Bios und zitierfähige Detailblöcke fehlen. So bleibt Provinzial für generative Modelle schwer zusammenzufassen.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1FEEB1B-48EC-4B3F-88CB-D917A8C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59580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2E7E35-2CEA-498F-9A30-2242C6E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HANDLUNGSEMPFEHLUNGEN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C44237-6773-4F0F-B148-53F568D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Drei Prioritäten, klarer Hebel</a:t>
            </a:r>
            <a:endParaRPr sz="3200"/>
          </a:p>
        </p:txBody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749d48fc04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7BE9D14-D010-4DEC-A23F-B930D51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64008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1B2B73-90B3-4030-A1B4-74AFA2A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3624"/>
            <a:ext cx="640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6A3B"/>
                </a:solidFill>
                <a:latin typeface="Noto Sans JP"/>
                <a:ea typeface="Noto Sans JP"/>
                <a:cs typeface="Noto Sans JP"/>
              </a:rPr>
              <a:t>P1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A42B6B5-3A0D-4B51-BC4A-31A001AF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490472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Zitierbare Antwortblöcke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B0CDC1B-B491-413E-B082-A269676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490472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Für Kernfragen kurze Blöcke aus Definition, 1–2 belastbaren Fakten, Quelle und Ansprechpartner veröffentlichen.</a:t>
            </a:r>
            <a:endParaRPr sz="13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B46B3BB-79E5-4D45-9D67-9294F20C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0592"/>
            <a:ext cx="64008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60CE1E-D5B5-434D-A4E7-3D646B96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456"/>
            <a:ext cx="640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P2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7C44DC5-8063-42CC-8D52-C42FA3FF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432304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FAQ &amp; Schema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3E98ED5-3347-43F4-B2C0-D2B84C62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32304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FAQPage, HowTo, BreadcrumbList und semantische Definitionen ergänzen; bestehende Themen-Cluster maschinenlesbar auszeichnen.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0A404AB-16D4-4962-A359-855FD6C8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2424"/>
            <a:ext cx="64008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77A7B5C-E6ED-46FE-B202-3B46DC3C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7288"/>
            <a:ext cx="640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CA55"/>
                </a:solidFill>
                <a:latin typeface="Noto Sans JP"/>
                <a:ea typeface="Noto Sans JP"/>
                <a:cs typeface="Noto Sans JP"/>
              </a:rPr>
              <a:t>P3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79F8AB4-74C6-4284-86E8-006872FD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74136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Trust &amp; Experience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9F756F4-3C4E-49E5-8E56-38F5C75E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374136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Author-Bios, qualifizierte Kontakte, Fallbeispiele und nachprüfbare Prozesse sichtbar machen und mit Organization/WebPage-Signalen verbinden.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DD270E1-E620-4987-A9DC-6B26F4B8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Startpunkt: die zwei unzitierten Prompts plus Fragen mit Rang 14–17 — hier ist der größte kurzfristige Hebel.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D617EE8-2471-48BA-AC25-F59B8B66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10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01500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456bd23444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CBBFF27-7FEF-4F41-9033-CAFB6A1F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FAZIT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7D3D903-A00E-4D77-A00E-C47B1AD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863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2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Provinzial muss nicht sichtbarer werden —</a:t>
            </a:r>
            <a:endParaRPr sz="260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2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sondern zitierbarer.</a:t>
            </a:r>
            <a:endParaRPr sz="2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7467721-5CA3-4012-B519-13775EE5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Die technische Basis ist solide und der GEO-Score überdurchschnittlich. Der nächste Sprung entsteht durch strukturierte Antworten, belastbare Vertrauenssignale und lokale Evidenz — genau dort, wo die Personas konkret suchen.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72BFB4F-A50F-475A-AB37-BC5E426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Quelle: PLEXON Quick Check Provinzial · 50 Seiten · 8 Prompts · 7 Modelle · Stand 25.08.2026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C5251-0D32-4E71-B875-4CE4F6E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11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4048453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2026-08-25T20:20:13.7500000Z</dcterms:created>
  <dcterms:modified xsi:type="dcterms:W3CDTF">2026-08-25T20:20:13.7500000Z</dcterms:modified>
</coreProperties>
</file>