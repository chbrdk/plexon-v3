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378b3475c1434f" /><Relationship Type="http://schemas.openxmlformats.org/officeDocument/2006/relationships/extended-properties" Target="/docProps/app.xml" Id="Rc11fea50c1b34281" /><Relationship Type="http://schemas.openxmlformats.org/officeDocument/2006/relationships/officeDocument" Target="/ppt/presentation.xml" Id="R24b62cba3b914a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80f92adcf44743"/>
  </p:sldMasterIdLst>
  <p:notesMasterIdLst>
    <p:notesMasterId xmlns:r="http://schemas.openxmlformats.org/officeDocument/2006/relationships" r:id="R47fd0b6b6f7d47b7"/>
  </p:notesMasterIdLst>
  <p:sldIdLst>
    <p:sldId xmlns:r="http://schemas.openxmlformats.org/officeDocument/2006/relationships" id="256" r:id="R88b7582de19d4281"/>
    <p:sldId xmlns:r="http://schemas.openxmlformats.org/officeDocument/2006/relationships" id="257" r:id="Ra56fbccbf15e4496"/>
    <p:sldId xmlns:r="http://schemas.openxmlformats.org/officeDocument/2006/relationships" id="258" r:id="R2d4c6bf0d5924659"/>
    <p:sldId xmlns:r="http://schemas.openxmlformats.org/officeDocument/2006/relationships" id="259" r:id="R5405b0e3686f4371"/>
    <p:sldId xmlns:r="http://schemas.openxmlformats.org/officeDocument/2006/relationships" id="260" r:id="Rd7713e027483425a"/>
    <p:sldId xmlns:r="http://schemas.openxmlformats.org/officeDocument/2006/relationships" id="261" r:id="R64ee279aed70422a"/>
    <p:sldId xmlns:r="http://schemas.openxmlformats.org/officeDocument/2006/relationships" id="262" r:id="Rfda7a2e2554148f6"/>
    <p:sldId xmlns:r="http://schemas.openxmlformats.org/officeDocument/2006/relationships" id="263" r:id="Red3da60224874413"/>
    <p:sldId xmlns:r="http://schemas.openxmlformats.org/officeDocument/2006/relationships" id="264" r:id="R5f9a783983b34c53"/>
    <p:sldId xmlns:r="http://schemas.openxmlformats.org/officeDocument/2006/relationships" id="265" r:id="Rc65a3ac8a4144054"/>
    <p:sldId xmlns:r="http://schemas.openxmlformats.org/officeDocument/2006/relationships" id="266" r:id="R2852ac8eddd04fbc"/>
    <p:sldId xmlns:r="http://schemas.openxmlformats.org/officeDocument/2006/relationships" id="267" r:id="R6d820df2da8f452c"/>
    <p:sldId xmlns:r="http://schemas.openxmlformats.org/officeDocument/2006/relationships" id="268" r:id="R0d1bee358b1b42cb"/>
    <p:sldId xmlns:r="http://schemas.openxmlformats.org/officeDocument/2006/relationships" id="269" r:id="R77748c7a33004a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62adc6c23b4815" /><Relationship Type="http://schemas.openxmlformats.org/officeDocument/2006/relationships/slideMaster" Target="/ppt/slideMasters/slideMaster1.xml" Id="R7380f92adcf44743" /><Relationship Type="http://schemas.openxmlformats.org/officeDocument/2006/relationships/notesMaster" Target="/ppt/notesMasters/notesMaster1.xml" Id="R47fd0b6b6f7d47b7" /><Relationship Type="http://schemas.openxmlformats.org/officeDocument/2006/relationships/presProps" Target="/ppt/presProps.xml" Id="R2986a609f0874863" /><Relationship Type="http://schemas.openxmlformats.org/officeDocument/2006/relationships/tableStyles" Target="/ppt/tableStyles.xml" Id="R133a5d779e644fd1" /><Relationship Type="http://schemas.openxmlformats.org/officeDocument/2006/relationships/slide" Target="/ppt/slides/slide1.xml" Id="R88b7582de19d4281" /><Relationship Type="http://schemas.openxmlformats.org/officeDocument/2006/relationships/slide" Target="/ppt/slides/slide2.xml" Id="Ra56fbccbf15e4496" /><Relationship Type="http://schemas.openxmlformats.org/officeDocument/2006/relationships/slide" Target="/ppt/slides/slide3.xml" Id="R2d4c6bf0d5924659" /><Relationship Type="http://schemas.openxmlformats.org/officeDocument/2006/relationships/slide" Target="/ppt/slides/slide4.xml" Id="R5405b0e3686f4371" /><Relationship Type="http://schemas.openxmlformats.org/officeDocument/2006/relationships/slide" Target="/ppt/slides/slide5.xml" Id="Rd7713e027483425a" /><Relationship Type="http://schemas.openxmlformats.org/officeDocument/2006/relationships/slide" Target="/ppt/slides/slide6.xml" Id="R64ee279aed70422a" /><Relationship Type="http://schemas.openxmlformats.org/officeDocument/2006/relationships/slide" Target="/ppt/slides/slide7.xml" Id="Rfda7a2e2554148f6" /><Relationship Type="http://schemas.openxmlformats.org/officeDocument/2006/relationships/slide" Target="/ppt/slides/slide8.xml" Id="Red3da60224874413" /><Relationship Type="http://schemas.openxmlformats.org/officeDocument/2006/relationships/slide" Target="/ppt/slides/slide9.xml" Id="R5f9a783983b34c53" /><Relationship Type="http://schemas.openxmlformats.org/officeDocument/2006/relationships/slide" Target="/ppt/slides/slide10.xml" Id="Rc65a3ac8a4144054" /><Relationship Type="http://schemas.openxmlformats.org/officeDocument/2006/relationships/slide" Target="/ppt/slides/slide11.xml" Id="R2852ac8eddd04fbc" /><Relationship Type="http://schemas.openxmlformats.org/officeDocument/2006/relationships/slide" Target="/ppt/slides/slide12.xml" Id="R6d820df2da8f452c" /><Relationship Type="http://schemas.openxmlformats.org/officeDocument/2006/relationships/slide" Target="/ppt/slides/slide13.xml" Id="R0d1bee358b1b42cb" /><Relationship Type="http://schemas.openxmlformats.org/officeDocument/2006/relationships/slide" Target="/ppt/slides/slide14.xml" Id="R77748c7a33004a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360f0815e640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b4971e07e54674" /><Relationship Type="http://schemas.openxmlformats.org/officeDocument/2006/relationships/notesMaster" Target="/ppt/notesMasters/notesMaster1.xml" Id="R529a3bfb9df043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6e863462eb4245" /><Relationship Type="http://schemas.openxmlformats.org/officeDocument/2006/relationships/notesMaster" Target="/ppt/notesMasters/notesMaster1.xml" Id="R077e957a58e241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4b4742482b4e8e" /><Relationship Type="http://schemas.openxmlformats.org/officeDocument/2006/relationships/notesMaster" Target="/ppt/notesMasters/notesMaster1.xml" Id="R1c65790e3cd44e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4796b2557e4c50" /><Relationship Type="http://schemas.openxmlformats.org/officeDocument/2006/relationships/notesMaster" Target="/ppt/notesMasters/notesMaster1.xml" Id="R228b0008aa2d4a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df267d4fec408f" /><Relationship Type="http://schemas.openxmlformats.org/officeDocument/2006/relationships/notesMaster" Target="/ppt/notesMasters/notesMaster1.xml" Id="R23e0c3f1b6d949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0ef35c2b9d4941" /><Relationship Type="http://schemas.openxmlformats.org/officeDocument/2006/relationships/notesMaster" Target="/ppt/notesMasters/notesMaster1.xml" Id="Ra49ad80c1f134a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3f8d2e18224016" /><Relationship Type="http://schemas.openxmlformats.org/officeDocument/2006/relationships/notesMaster" Target="/ppt/notesMasters/notesMaster1.xml" Id="Rb7d8c5d5167c4c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d3d98e61734571" /><Relationship Type="http://schemas.openxmlformats.org/officeDocument/2006/relationships/notesMaster" Target="/ppt/notesMasters/notesMaster1.xml" Id="R9f7650ac034143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633694a3884362" /><Relationship Type="http://schemas.openxmlformats.org/officeDocument/2006/relationships/notesMaster" Target="/ppt/notesMasters/notesMaster1.xml" Id="R3266f616f3a949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1baf9726144556" /><Relationship Type="http://schemas.openxmlformats.org/officeDocument/2006/relationships/notesMaster" Target="/ppt/notesMasters/notesMaster1.xml" Id="Rd6b2cc9d68da4f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8c86ab9e944846" /><Relationship Type="http://schemas.openxmlformats.org/officeDocument/2006/relationships/notesMaster" Target="/ppt/notesMasters/notesMaster1.xml" Id="Reb271172fa534e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a95a341e564662" /><Relationship Type="http://schemas.openxmlformats.org/officeDocument/2006/relationships/notesMaster" Target="/ppt/notesMasters/notesMaster1.xml" Id="Re7665c25b5b345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37088dedae4e45" /><Relationship Type="http://schemas.openxmlformats.org/officeDocument/2006/relationships/notesMaster" Target="/ppt/notesMasters/notesMaster1.xml" Id="Rc65d592772344f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57ae4966ec4454" /><Relationship Type="http://schemas.openxmlformats.org/officeDocument/2006/relationships/notesMaster" Target="/ppt/notesMasters/notesMaster1.xml" Id="R9efdbe86464c47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https://developers.brandwatch.com/</a:t>
            </a:r>
          </a:p>
          <a:p xmlns:a="http://schemas.openxmlformats.org/drawingml/2006/main">
            <a:r>
              <a:t>- https://developer.meltwater.com/docs/</a:t>
            </a:r>
          </a:p>
          <a:p xmlns:a="http://schemas.openxmlformats.org/drawingml/2006/main">
            <a:r>
              <a:t>- https://developers.similarweb.com/docs/similarweb-web-traffic-api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https://api.qualtrics.com/</a:t>
            </a:r>
          </a:p>
          <a:p xmlns:a="http://schemas.openxmlformats.org/drawingml/2006/main">
            <a:r>
              <a:t>- https://www.typeform.com/developers/</a:t>
            </a:r>
          </a:p>
          <a:p xmlns:a="http://schemas.openxmlformats.org/drawingml/2006/main">
            <a:r>
              <a:t>- https://developer.surveymonkey.com/api/v3/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https://developers.google.com/webmaster-tools/v1/api_reference_index</a:t>
            </a:r>
          </a:p>
          <a:p xmlns:a="http://schemas.openxmlformats.org/drawingml/2006/main">
            <a:r>
              <a:t>- https://developers.google.com/speed/docs/insights/v5/get-started</a:t>
            </a:r>
          </a:p>
          <a:p xmlns:a="http://schemas.openxmlformats.org/drawingml/2006/main">
            <a:r>
              <a:t>- https://developer.siteimprove.com/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https://developers.figma.com/docs/rest-api/</a:t>
            </a:r>
          </a:p>
          <a:p xmlns:a="http://schemas.openxmlformats.org/drawingml/2006/main">
            <a:r>
              <a:t>- https://developer.frontify.com/</a:t>
            </a:r>
          </a:p>
          <a:p xmlns:a="http://schemas.openxmlformats.org/drawingml/2006/main">
            <a:r>
              <a:t>- https://developers.bynder.com/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https://www.contentful.com/developers/docs/references/api-basics/</a:t>
            </a:r>
          </a:p>
          <a:p xmlns:a="http://schemas.openxmlformats.org/drawingml/2006/main">
            <a:r>
              <a:t>- https://www.storyblok.com/docs/api/management</a:t>
            </a:r>
          </a:p>
          <a:p xmlns:a="http://schemas.openxmlformats.org/drawingml/2006/main">
            <a:r>
              <a:t>- https://experienceleague.adobe.com/en/docs/experience-manager-cloud-service/content/headless/introduction</a:t>
            </a:r>
          </a:p>
          <a:p xmlns:a="http://schemas.openxmlformats.org/drawingml/2006/main">
            <a:r>
              <a:t>- https://developers.webflow.com/data/reference/content-management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https://developers.figma.com/docs/rest-api/</a:t>
            </a:r>
          </a:p>
          <a:p xmlns:a="http://schemas.openxmlformats.org/drawingml/2006/main">
            <a:r>
              <a:t>- https://www.contentful.com/developers/docs/references/api-basics/</a:t>
            </a:r>
          </a:p>
          <a:p xmlns:a="http://schemas.openxmlformats.org/drawingml/2006/main">
            <a:r>
              <a:t>- https://www.storyblok.com/docs/api/management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95b7f64e14a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39540097354c39" /><Relationship Type="http://schemas.openxmlformats.org/officeDocument/2006/relationships/slideLayout" Target="/ppt/slideLayouts/slideLayout1.xml" Id="R2a7890eb09234d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7890eb09234d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05f6937f14f84" /><Relationship Type="http://schemas.openxmlformats.org/officeDocument/2006/relationships/image" Target="/ppt/media/image.png" Id="R75f39473f62843e6" /><Relationship Type="http://schemas.openxmlformats.org/officeDocument/2006/relationships/notesSlide" Target="/ppt/notesSlides/notesSlide1.xml" Id="Rb640b4c03c1f45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708a31a464e71" /><Relationship Type="http://schemas.openxmlformats.org/officeDocument/2006/relationships/image" Target="/ppt/media/image2.png" Id="Read0b2d720c440fd" /><Relationship Type="http://schemas.openxmlformats.org/officeDocument/2006/relationships/notesSlide" Target="/ppt/notesSlides/notesSlide2.xml" Id="R88ca6b220b0d4f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8764c745b447c" /><Relationship Type="http://schemas.openxmlformats.org/officeDocument/2006/relationships/image" Target="/ppt/media/image3.png" Id="Re0392672a7b94e8e" /><Relationship Type="http://schemas.openxmlformats.org/officeDocument/2006/relationships/notesSlide" Target="/ppt/notesSlides/notesSlide3.xml" Id="Re28a7560130646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139441ccd49b9" /><Relationship Type="http://schemas.openxmlformats.org/officeDocument/2006/relationships/image" Target="/ppt/media/image4.png" Id="R5b2628e6c36e4fe2" /><Relationship Type="http://schemas.openxmlformats.org/officeDocument/2006/relationships/notesSlide" Target="/ppt/notesSlides/notesSlide4.xml" Id="Rcbbef7b4f1b642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309f2dafa47b9" /><Relationship Type="http://schemas.openxmlformats.org/officeDocument/2006/relationships/image" Target="/ppt/media/image5.png" Id="Rca41086301534743" /><Relationship Type="http://schemas.openxmlformats.org/officeDocument/2006/relationships/notesSlide" Target="/ppt/notesSlides/notesSlide5.xml" Id="Ra5e7cb28021744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d7053bf7843ea" /><Relationship Type="http://schemas.openxmlformats.org/officeDocument/2006/relationships/image" Target="/ppt/media/image6.png" Id="Ra471d697368246d9" /><Relationship Type="http://schemas.openxmlformats.org/officeDocument/2006/relationships/notesSlide" Target="/ppt/notesSlides/notesSlide6.xml" Id="Rdd3db3d945c34d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9f0fc7dcb4c1f" /><Relationship Type="http://schemas.openxmlformats.org/officeDocument/2006/relationships/image" Target="/ppt/media/image7.png" Id="R239e2a7d76fd424d" /><Relationship Type="http://schemas.openxmlformats.org/officeDocument/2006/relationships/image" Target="/ppt/media/image.jpeg" Id="Rfdca7c1031804eba" /><Relationship Type="http://schemas.openxmlformats.org/officeDocument/2006/relationships/notesSlide" Target="/ppt/notesSlides/notesSlide7.xml" Id="R0c6e2fb7a5724a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75ae6a4b34908" /><Relationship Type="http://schemas.openxmlformats.org/officeDocument/2006/relationships/image" Target="/ppt/media/image8.png" Id="Ra6a96622e9fa4c34" /><Relationship Type="http://schemas.openxmlformats.org/officeDocument/2006/relationships/notesSlide" Target="/ppt/notesSlides/notesSlide8.xml" Id="R2adf6f792b4348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f8a0b36134952" /><Relationship Type="http://schemas.openxmlformats.org/officeDocument/2006/relationships/image" Target="/ppt/media/image9.png" Id="Rceca869b33ee42dd" /><Relationship Type="http://schemas.openxmlformats.org/officeDocument/2006/relationships/notesSlide" Target="/ppt/notesSlides/notesSlide9.xml" Id="R14b33ddebfbf4c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5c5c4e6c44457" /><Relationship Type="http://schemas.openxmlformats.org/officeDocument/2006/relationships/image" Target="/ppt/media/image10.png" Id="R172981275e054396" /><Relationship Type="http://schemas.openxmlformats.org/officeDocument/2006/relationships/notesSlide" Target="/ppt/notesSlides/notesSlide10.xml" Id="R0bde15856ed042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e406baaed4ef2" /><Relationship Type="http://schemas.openxmlformats.org/officeDocument/2006/relationships/image" Target="/ppt/media/image11.png" Id="R47820d847eda43a8" /><Relationship Type="http://schemas.openxmlformats.org/officeDocument/2006/relationships/notesSlide" Target="/ppt/notesSlides/notesSlide11.xml" Id="R43511d20a5954d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284bdc9384f40" /><Relationship Type="http://schemas.openxmlformats.org/officeDocument/2006/relationships/image" Target="/ppt/media/image12.png" Id="Raa22e0c5ecf04fb8" /><Relationship Type="http://schemas.openxmlformats.org/officeDocument/2006/relationships/notesSlide" Target="/ppt/notesSlides/notesSlide12.xml" Id="Re56a58aad51147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a1357d5944ec0" /><Relationship Type="http://schemas.openxmlformats.org/officeDocument/2006/relationships/image" Target="/ppt/media/image13.png" Id="R696cc462bfa547ea" /><Relationship Type="http://schemas.openxmlformats.org/officeDocument/2006/relationships/notesSlide" Target="/ppt/notesSlides/notesSlide13.xml" Id="Rf2a834aeccde48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0ff90b34242aa" /><Relationship Type="http://schemas.openxmlformats.org/officeDocument/2006/relationships/image" Target="/ppt/media/image14.png" Id="Re0a0c6a4171543b7" /><Relationship Type="http://schemas.openxmlformats.org/officeDocument/2006/relationships/notesSlide" Target="/ppt/notesSlides/notesSlide14.xml" Id="R75293acfa75b49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56B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39473f62843e6"/>
          <a:stretch xmlns:a="http://schemas.openxmlformats.org/drawingml/2006/main"/>
        </p:blipFill>
        <p:spPr>
          <a:xfrm xmlns:a="http://schemas.openxmlformats.org/drawingml/2006/main">
            <a:off x="474439" y="361950"/>
            <a:ext cx="708471" cy="285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5E876-1ABA-440A-BF89-98EEFBF7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935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46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PLEXON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54F3C-391F-4F5E-B0F2-241909D8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572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Ihre Systeme.</a:t>
            </a:r>
          </a:p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Ein gemeinsamer</a:t>
            </a:r>
          </a:p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Kontext.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47DA2-CDF1-4E30-9A59-B82982D5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Die offene AI Suite von MSQ DX für Research, Kreation, Qualität und Governance.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DBE4D-901F-49ED-9254-6EB00F03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0858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7323A-6D74-4C97-BBB2-0227B782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097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PLEXON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BD74A-0A9F-4C8F-B36C-F734889F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0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KONTEXT · 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ADC70-D1C7-43A2-9A1C-50C0D8B8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2865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F2D2"/>
          </a:solidFill>
          <a:ln xmlns:a="http://schemas.openxmlformats.org/drawingml/2006/main" w="0">
            <a:solidFill>
              <a:srgbClr val="BFF2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5FA67-DB09-4D87-82DF-D5E366DB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8001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ECHON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D95A5-563D-4F8B-BAEA-60C8B753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7635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0EB"/>
          </a:solidFill>
          <a:ln xmlns:a="http://schemas.openxmlformats.org/drawingml/2006/main" w="0">
            <a:solidFill>
              <a:srgbClr val="FAD0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90080-63DA-44AB-A23B-9FAE16F9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4478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AUDION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71974-0569-4A01-8FBD-E15B185A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F2D2"/>
          </a:solidFill>
          <a:ln xmlns:a="http://schemas.openxmlformats.org/drawingml/2006/main" w="0">
            <a:solidFill>
              <a:srgbClr val="BFF2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CF53A-2571-415F-9292-DBC7C141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052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CHECKION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22649-5C76-4AEE-8950-3A0067E0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C2"/>
          </a:solidFill>
          <a:ln xmlns:a="http://schemas.openxmlformats.org/drawingml/2006/main" w="0">
            <a:solidFill>
              <a:srgbClr val="FF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0CD6C-A92A-4358-A5CB-8EDBCA53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100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BRANDION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2D341-2BB5-41B3-B08C-A11C4816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B7"/>
          </a:solidFill>
          <a:ln xmlns:a="http://schemas.openxmlformats.org/drawingml/2006/main" w="0">
            <a:solidFill>
              <a:srgbClr val="FFF9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E852F-007A-4600-B55A-E63F3CDA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194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CREATION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E484A8-3C4F-4291-BFEF-D65F7DD3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MSQ DX · 2026</a:t>
            </a:r>
          </a:p>
        </p:txBody>
      </p:sp>
    </p:spTree>
    <p:extLst>
      <p:ext uri="{BB962C8B-B14F-4D97-AF65-F5344CB8AC3E}">
        <p14:creationId xmlns:p14="http://schemas.microsoft.com/office/powerpoint/2010/main" val="19873071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0b2d720c440fd"/>
          <a:stretch xmlns:a="http://schemas.openxmlformats.org/drawingml/2006/main"/>
        </p:blipFill>
        <p:spPr>
          <a:xfrm xmlns:a="http://schemas.openxmlformats.org/drawingml/2006/main">
            <a:off x="11099380" y="266700"/>
            <a:ext cx="66124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4ACDF-8B98-434D-9B0C-C2F27E79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DAS VERSPRECHEN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93B28-D19A-4AAE-872B-B508C27C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3C28E-7B76-4F02-A291-756B6705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72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PLEXON ersetzt Ihren Stack nicht.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A2029-FC78-455D-96CF-9DD00530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Es macht ihn gemeinsam nutzbar.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ABEF8-3314-448D-99E5-46CBE155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D9FAF-5B0C-46C7-B965-51ECBF8F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B98C7-D753-4C4B-903F-362336A6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765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Qualtrics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998D4-1AEE-4707-9103-E3098AC3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6225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19B6B-94DE-43A3-A678-7F9DD0C6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0E1A4-11AC-42E2-A172-CFE1DC1A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12B27-31BC-4FF8-8638-5A858669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004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Figma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7F9675-958D-4087-A9CF-D0A74072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8615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4451F-2F49-4B41-ADE8-DCF0DA41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CMS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ACCE8-7097-4078-8B01-97DC3174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3DB55-A7D8-4E4B-AEDF-DC014FBB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243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Contentful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F6DB0-BCBE-4F6E-9BD5-FADA9945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1005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217B3A-866E-4D9B-8530-9237808B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1A6FF9-E3FD-4C43-AB0D-13607A16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2C7A8-E64A-4626-A6A2-E75A7CF8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482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Search Console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96C34-2559-4BFD-BB51-AEBBCCBE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3395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08590C-41AE-4E08-884D-DD95AD37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27622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9A008-304C-4CDB-8725-B9DBFBF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384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PLEXON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5C8B58-2FB8-42D8-B319-35BFB56E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14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gemeinsamer Kontext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49668A-0FAA-4ED3-81B3-33372DB3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57625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CFC5CF-B07E-42B6-AB07-A04F462A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052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Daten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9E3027-9AD8-4B9A-A678-16B1945F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38625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71C5F6-2FFC-4B16-9910-508A00B4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862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Entscheidungen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E68EBC-6B18-4C97-BAF6-F1A7268A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19625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A943A5-930E-4629-9167-1658F675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672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Rollen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C27A71-D9A6-4ECC-A7C4-137B30F4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00625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644BF5-26DA-4449-BBCC-EA7649E6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482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Nachweise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B560EC-6D8D-4CC0-A981-DC498CF7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622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4E02A1-FB14-4FFC-A39C-AB1449D0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D133E1-D23A-4BE9-8A9C-EA864F0D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76525"/>
            <a:ext cx="1685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Insights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1CBE74-5064-4503-B8B9-4ADAC675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0DA7A4-066F-470D-8886-3D96BEF1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956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CCCA64-5119-423C-BEA5-30146C50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0425"/>
            <a:ext cx="1685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Prototypen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E40DB4-855B-4127-A080-ED10F2E5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100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C3D505-8067-46EB-8E28-061EBFC1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195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9022D3-E048-4667-B318-85D274AF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24325"/>
            <a:ext cx="1685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Prüfungen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AC26C4-DA03-404F-937B-623F270E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339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ECC464-50B7-43C6-A130-5D750D0D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434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9C9EB6-6352-449D-8A7B-9A56F082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48225"/>
            <a:ext cx="1685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Freigaben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2051F4-2125-472C-9AE8-E4F936D1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7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Bestehende Systeme bleiben relevant. PLEXON verbindet Daten, Spezialfähigkeiten und Entscheidungen.</a:t>
            </a:r>
          </a:p>
        </p:txBody>
      </p:sp>
    </p:spTree>
    <p:extLst>
      <p:ext uri="{BB962C8B-B14F-4D97-AF65-F5344CB8AC3E}">
        <p14:creationId xmlns:p14="http://schemas.microsoft.com/office/powerpoint/2010/main" val="9199061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92672a7b94e8e"/>
          <a:stretch xmlns:a="http://schemas.openxmlformats.org/drawingml/2006/main"/>
        </p:blipFill>
        <p:spPr>
          <a:xfrm xmlns:a="http://schemas.openxmlformats.org/drawingml/2006/main">
            <a:off x="11099380" y="266700"/>
            <a:ext cx="66124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3572F-7E2A-4AF9-8572-AB74CDA7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ÖKOSYSTEM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C3065-0971-47C5-9485-AE042D34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6E81D-AFDE-4E4F-AB4D-7CCB41CF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Fünf Spezialisten. Viele Andockpunkte. Ein Arbeitskreislauf.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5C867-1AFC-4D61-BB39-ADB01E30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241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3E66D-61B3-454B-89A3-491F3BD4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098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395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PLEXON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C4DD6-813A-495A-8B95-D524E407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67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COLLECTION · KONTEXT · 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4142C-4BE5-4A12-9836-6156EDFE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1925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F2D2"/>
          </a:solidFill>
          <a:ln xmlns:a="http://schemas.openxmlformats.org/drawingml/2006/main" w="0">
            <a:solidFill>
              <a:srgbClr val="BFF2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D89BA-4690-4E0A-AC1F-92CA2AEF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7526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ECHON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84A74-C6FE-4109-8D66-4217C37D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09550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Brandwatch · Meltwater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8F61F-29F4-4AD9-A3CC-2EFDF9A6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2905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0EB"/>
          </a:solidFill>
          <a:ln xmlns:a="http://schemas.openxmlformats.org/drawingml/2006/main" w="0">
            <a:solidFill>
              <a:srgbClr val="FAD0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64A3A-EA17-45CC-99ED-2ADBA286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9624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AUDION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CC2B1-F8A8-4322-A300-4CA39007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30530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Qualtrics · SurveyMonkey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09339-5754-450B-A8B4-702396CC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F2D2"/>
          </a:solidFill>
          <a:ln xmlns:a="http://schemas.openxmlformats.org/drawingml/2006/main" w="0">
            <a:solidFill>
              <a:srgbClr val="BFF2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0D032-26D2-4BBD-B138-7B0F25B9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7526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CHECKION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EA68A-471B-49E4-A2C6-0B3662D7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9550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Search Console · PageSpeed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59024-454B-4826-A048-D3C74A9E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2905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C2"/>
          </a:solidFill>
          <a:ln xmlns:a="http://schemas.openxmlformats.org/drawingml/2006/main" w="0">
            <a:solidFill>
              <a:srgbClr val="FF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C289F-7AF6-4B04-A3B2-268ECE06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9624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BRANDION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C3BCB-6A76-424C-8C67-7F1C2E95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30530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Figma · Frontify · Bynder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BA60AF-8FB2-41C1-9C62-E54155EC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6250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B7"/>
          </a:solidFill>
          <a:ln xmlns:a="http://schemas.openxmlformats.org/drawingml/2006/main" w="0">
            <a:solidFill>
              <a:srgbClr val="FFF9B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194C0-5A9F-428D-BEC4-89615CD0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8958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CREATION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B1CB7-F8B6-47AF-A963-9F0E609D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2387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Contentful · Storyblok · AEM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8F528-DB2E-49A8-9972-F81D616B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190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21D1AC-A35F-4709-91F0-89C267DC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B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825" b="0">
                <a:solidFill>
                  <a:srgbClr val="6B6B6B"/>
                </a:solidFill>
                <a:latin typeface="Noto Sans JP Light"/>
                <a:ea typeface="Noto Sans JP Light"/>
                <a:cs typeface="Noto Sans JP Light"/>
              </a:rPr>
              <a:t>Toolnamen zeigen mögliche Integrationsziele – keine pauschale Zusage einer bereits produktiven Standardintegration.</a:t>
            </a:r>
          </a:p>
        </p:txBody>
      </p:sp>
    </p:spTree>
    <p:extLst>
      <p:ext uri="{BB962C8B-B14F-4D97-AF65-F5344CB8AC3E}">
        <p14:creationId xmlns:p14="http://schemas.microsoft.com/office/powerpoint/2010/main" val="952811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628e6c36e4fe2"/>
          <a:stretch xmlns:a="http://schemas.openxmlformats.org/drawingml/2006/main"/>
        </p:blipFill>
        <p:spPr>
          <a:xfrm xmlns:a="http://schemas.openxmlformats.org/drawingml/2006/main">
            <a:off x="11099380" y="266700"/>
            <a:ext cx="66124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6A595-7381-4324-9679-BE644162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PLEXON · CONTROL PLANE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51C61-588B-474D-937A-8FC1A1B6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2B112-C6D7-4D4C-A035-B9ED690B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Der Kontext bleibt zusammen. Die Apps bleiben spezialisiert.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5619C-A618-4877-B4BC-189B3139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73818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E4A09-9D49-4625-9A50-C5875316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COLLECTION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F7113-1E5F-4A9C-9271-D493E997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Ein gemeinsamer Arbeitsraum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AA921-488A-4208-9569-293DB6DB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0EB"/>
          </a:solidFill>
          <a:ln xmlns:a="http://schemas.openxmlformats.org/drawingml/2006/main" w="0">
            <a:solidFill>
              <a:srgbClr val="FAD0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D2437-B945-45A4-96B6-72E3B4BB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9358F-621B-45EE-B03B-EEA2A5AF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5755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KONTEXT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43A59-821D-43B0-AF47-E036CACF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7660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050" b="0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Quellen, Briefings, Ergebnisse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DE069-66BD-4475-B7E3-05FB82FD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B7"/>
          </a:solidFill>
          <a:ln xmlns:a="http://schemas.openxmlformats.org/drawingml/2006/main" w="0">
            <a:solidFill>
              <a:srgbClr val="FFF9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74F79-30A3-4C91-A13D-0DA9ABD2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17B35-4172-4435-BA77-07FED656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FLOWS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33C0F-6247-4034-8C54-28453FCF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1955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050" b="0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Übergaben und spezialisierte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9E93C-4C01-4C9A-BD8D-4CDA31C6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F2D2"/>
          </a:solidFill>
          <a:ln xmlns:a="http://schemas.openxmlformats.org/drawingml/2006/main" w="0">
            <a:solidFill>
              <a:srgbClr val="BFF2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43F61-C3FF-438B-B509-F0DBEEDF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20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B2EE08-D37E-48C1-8CEA-C6FC9E50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4345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181456-7394-4428-8D7E-8B90CD73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6250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050" b="0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Rollen, Prüfungen, Nachweise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B99F5-3A7D-474F-9CCC-8B59BBDE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ANDOCKPUNKTE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9486E-43DF-415C-A8C4-5A78FB7F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545E64-0DB2-4C7F-B0BE-CD5D455A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860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SharePoint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1035AC-E772-4B79-9569-2100A588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28925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33EB1D-A75E-4E97-BF99-F10702BD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718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Google Drive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2D8254-7B06-48BF-B0DB-0F550DD1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14725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53A781-F1EF-4466-B8D6-207DABBE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576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Teams / Slack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3044CB-7B5C-4BD3-BDA5-438187E2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00525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590C31-DEE8-4A3C-8A5A-4EFBA693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434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APIs &amp; MCP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D19166-AC0B-4683-B318-AD0FEF5F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9587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PLEXON hält den Prozess steuerbar – nicht die fachliche Tiefe jeder App.</a:t>
            </a:r>
          </a:p>
        </p:txBody>
      </p:sp>
    </p:spTree>
    <p:extLst>
      <p:ext uri="{BB962C8B-B14F-4D97-AF65-F5344CB8AC3E}">
        <p14:creationId xmlns:p14="http://schemas.microsoft.com/office/powerpoint/2010/main" val="1659725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1086301534743"/>
          <a:stretch xmlns:a="http://schemas.openxmlformats.org/drawingml/2006/main"/>
        </p:blipFill>
        <p:spPr>
          <a:xfrm xmlns:a="http://schemas.openxmlformats.org/drawingml/2006/main">
            <a:off x="11099380" y="266700"/>
            <a:ext cx="66124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DE6FB-55A1-49FD-9BED-6C331669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ECHON · MARKET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E818A-0BE0-46F6-8B43-A2223D00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EF0FC-285D-4940-B208-CB5852D5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Marktdynamik wird zum Briefing.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80B1A-4B0F-4B8F-8381-29F05328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CA55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1">
                <a:solidFill>
                  <a:srgbClr val="00CA55"/>
                </a:solidFill>
                <a:latin typeface="Noto Sans JP Light"/>
                <a:ea typeface="Noto Sans JP Light"/>
                <a:cs typeface="Noto Sans JP Light"/>
              </a:rPr>
              <a:t>Signale erkennen, strukturieren und in konkrete Fragen übersetzen.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D98FF-B78C-4CF9-B4E9-AE180AAA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7000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F2D2"/>
          </a:solidFill>
          <a:ln xmlns:a="http://schemas.openxmlformats.org/drawingml/2006/main" w="0">
            <a:solidFill>
              <a:srgbClr val="BFF2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11AAD-D386-44E5-B51F-0FBA3D34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8610"/>
            <a:ext cx="24765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4FDCF-5AC0-4B9B-9A90-CD0EBEF6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8174"/>
            <a:ext cx="247650" cy="12176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62CC4-EC5B-4363-8F74-CFC755D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87012"/>
            <a:ext cx="247650" cy="608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FFB4B-6A9E-4F27-9596-A7F7195B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08985"/>
            <a:ext cx="247650" cy="15868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16628-C449-437E-BC6B-0BE45395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85438"/>
            <a:ext cx="247650" cy="10104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1822C-4861-42CF-8C23-00E00E30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95244"/>
            <a:ext cx="247650" cy="18006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E2AF5-4D9B-4F1A-A6A7-62D857AA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87496"/>
            <a:ext cx="247650" cy="13083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3778B-57E9-4437-9552-6CDDE432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476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A9AC6-846C-4262-AE7B-1A5C6742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80232"/>
            <a:ext cx="247650" cy="15156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AC7B0-1D32-450C-976A-B884D185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58440"/>
            <a:ext cx="247650" cy="2137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FCE76-1C03-4382-B340-0FD5508C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1830"/>
            <a:ext cx="247650" cy="1684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29D98-21FB-47B4-B86A-F0433575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447980-E380-42B4-A188-B49323B4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SIGNALDYNAMIK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37DF6-8093-473B-8CAF-23F9304A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06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Was verändert sich – und warum ist es relevant?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5EB65-173B-450A-9F5B-EA70A059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4A531-42E3-4079-8A92-205C634B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719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TRACK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23F8DF-04CB-44C2-A26B-F8245F0A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243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E73567-FABC-456B-B361-8DF969C1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719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STRUCTURE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B3E86D-0729-4ED1-BF47-DB61A953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243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26E3D9-5F25-43EC-B603-DB8C1182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719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EXPLAIN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92B135-2EC5-4C43-BD17-2786B7D0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145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3D4006-3122-492F-A050-22F52551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5FA5EB-572C-4FEF-AABF-A7CBBCC3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9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9F29C2-BAD1-4277-8021-7F579A9D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81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Trend-Wave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4C6614-C7C4-4A0A-8BC5-33CBF6F9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147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EFA3EE-F6FC-4C55-8A0F-755273D9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86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Source Trail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5D589C-A4CF-47CB-A398-6F871F0C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195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1DE7E3-49A7-42C7-AEE3-E1C15A71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91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Research Question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792E08-EF25-4C1D-8853-BA8E3083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MÖGLICHE DATENQUELLEN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8BBB21-1115-4FEC-9635-4E45863B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86740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FF2D2"/>
          </a:solidFill>
          <a:ln xmlns:a="http://schemas.openxmlformats.org/drawingml/2006/main" w="0">
            <a:solidFill>
              <a:srgbClr val="BFF2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2705B1-F46E-456B-84AC-7E4AAE70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15025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Brandwatch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27EFC2-2803-4078-8AA2-75E9C3B1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867400"/>
            <a:ext cx="876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FF2D2"/>
          </a:solidFill>
          <a:ln xmlns:a="http://schemas.openxmlformats.org/drawingml/2006/main" w="0">
            <a:solidFill>
              <a:srgbClr val="BFF2D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96FFE9-EBED-414A-BAF3-7AEDCF5F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9150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Meltwater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D06E41-9DC6-47F6-A25C-D9543495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86740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FF2D2"/>
          </a:solidFill>
          <a:ln xmlns:a="http://schemas.openxmlformats.org/drawingml/2006/main" w="0">
            <a:solidFill>
              <a:srgbClr val="BFF2D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80ABAC-D930-4948-A349-0CD98591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915025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Similarweb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B475C1-C705-4AB6-B98F-8D96852F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86740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FF2D2"/>
          </a:solidFill>
          <a:ln xmlns:a="http://schemas.openxmlformats.org/drawingml/2006/main" w="0">
            <a:solidFill>
              <a:srgbClr val="BFF2D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99B17B-4B0A-4153-AC04-185291A3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15025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RSS / News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A00A72-751A-41E6-874B-F238F5CF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436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6B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750" b="0">
                <a:solidFill>
                  <a:srgbClr val="6B6B6B"/>
                </a:solidFill>
                <a:latin typeface="Noto Sans JP Light"/>
                <a:ea typeface="Noto Sans JP Light"/>
                <a:cs typeface="Noto Sans JP Light"/>
              </a:rPr>
              <a:t>Beispiele möglicher Anbindungen · abhängig von API, Lizenz und Berechtigung</a:t>
            </a:r>
          </a:p>
        </p:txBody>
      </p:sp>
    </p:spTree>
    <p:extLst>
      <p:ext uri="{BB962C8B-B14F-4D97-AF65-F5344CB8AC3E}">
        <p14:creationId xmlns:p14="http://schemas.microsoft.com/office/powerpoint/2010/main" val="18182820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1d697368246d9"/>
          <a:stretch xmlns:a="http://schemas.openxmlformats.org/drawingml/2006/main"/>
        </p:blipFill>
        <p:spPr>
          <a:xfrm xmlns:a="http://schemas.openxmlformats.org/drawingml/2006/main">
            <a:off x="11099380" y="266700"/>
            <a:ext cx="66124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5FF3D-9BD1-48BE-B5F7-BFABA66A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AUDION · PLEXON ECOSYSTEM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B2BD1-F10F-4496-BFB4-EFF51FCB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E0C98-B4F3-4522-A67D-74B7D657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Aus Zielgruppenwissen wird ein Sparringspartner.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C45FE-78A9-4F09-AA7E-08F6560C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56B6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F256B6"/>
                </a:solidFill>
                <a:latin typeface="Noto Sans JP Light"/>
                <a:ea typeface="Noto Sans JP Light"/>
                <a:cs typeface="Noto Sans JP Light"/>
              </a:rPr>
              <a:t>Research bleibt Quelle. AUDION macht ihn anwendbar, vergleichbar und testbar.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61EFA-9A53-43C3-8A26-A631F96D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2209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0EB"/>
          </a:solidFill>
          <a:ln xmlns:a="http://schemas.openxmlformats.org/drawingml/2006/main" w="0">
            <a:solidFill>
              <a:srgbClr val="FAD0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F67F1-03A7-4885-8521-F2FE228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7068C-1079-4C0D-92B7-965263CF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CE326-6ADA-48AA-96E7-68E88A9B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EFFIZIENZ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A1D44-96C9-42E2-9DF7-86E3BBDC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186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0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Will Klarheit, Tempo und belastbare Belege.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0FDDB-51B7-4E96-B36A-4CF34BE7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33600"/>
            <a:ext cx="2209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B7"/>
          </a:solidFill>
          <a:ln xmlns:a="http://schemas.openxmlformats.org/drawingml/2006/main" w="0">
            <a:solidFill>
              <a:srgbClr val="FFF9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67DE3-C88A-423D-8E19-9ADCAD12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241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0440C-5D1A-4C09-B7A4-34F2211E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479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B1427-A424-47C7-9264-2D8E749E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62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SICHERHEIT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A6414-273D-4A5D-912D-691D962E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43300"/>
            <a:ext cx="186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0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Braucht Orientierung, Vergleich und Nachvollziehbarkeit.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7C3E6-504F-4E77-9005-41A6D0C9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33600"/>
            <a:ext cx="2209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F2D2"/>
          </a:solidFill>
          <a:ln xmlns:a="http://schemas.openxmlformats.org/drawingml/2006/main" w="0">
            <a:solidFill>
              <a:srgbClr val="BFF2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ADB29B-9D4A-49F8-B526-E93925F5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241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08579-9304-4B2A-83A3-92AF51B2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479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9D07F-C646-48E5-AD77-67EFD4B5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62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FORTSCHRITT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61CE1-C354-4572-82FA-922D0B14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43300"/>
            <a:ext cx="186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0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Reagiert auf Relevanz, Nutzen und sichtbare Wirkung.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231A9-69FB-4EBF-AA5F-2FA6AD41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33600"/>
            <a:ext cx="3028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D7616E-AB20-41ED-9AE8-F4D39F70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622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VALIDIERUNG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1FB6FB-D12B-435F-84F4-069EB488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Passt die Idee zur Zielgruppe?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BD71F8-2136-4652-8B17-C160965B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861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825" b="0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Quellenbezug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6BB4FA-F200-4E2A-9ED8-035FEF2C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24250"/>
            <a:ext cx="123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6B6B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1C3A66-CEA4-4AD9-ADB0-F00547E6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24250"/>
            <a:ext cx="106489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8CE861-A486-4C80-B776-177B863B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9572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825" b="0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Segment-Fit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38ED94-5C26-4FC5-842B-B449D9D1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33825"/>
            <a:ext cx="123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6B6B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5A29E9-4365-42BB-8795-1BCFA8E8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33825"/>
            <a:ext cx="91630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AAEE39-28F0-42FC-B08F-A9DF63D0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053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825" b="0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Hypothesen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3C4D6B-69D0-4117-B02C-0EEDDE78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23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6B6B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A424FA-66D3-407C-B7BF-30CC3149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680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8821DC-34FB-4B32-A36A-A0721CE1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2209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6BCC1C-C530-40F6-A476-403E8805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210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1401A4-E7AF-4FF0-A5CF-B04B4BF2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Quellen sichtbar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9476FF-A28E-460A-B5C3-82CD4577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00600"/>
            <a:ext cx="2209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B85D4D-4A0C-4F2D-A811-DFFB79A4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149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210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02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551ECF-F6CA-4A20-AECF-3C08D028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720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Interpretation getrennt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C55413-E3C6-4E21-A3E7-CEE6CC7D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00600"/>
            <a:ext cx="2209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52D2F1-885B-42A8-B2E5-877553E2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9149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210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3F2F18-813F-4E9F-A850-84E4D74E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9720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Hypothesen testbar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CCE71C-83B0-4FA0-9ABA-B8504CE9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MÖGLICHE RESEARCH-QUELLEN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6A7E66-D2E6-4842-B2F4-CE6F89B6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943600"/>
            <a:ext cx="876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AD0EB"/>
          </a:solidFill>
          <a:ln xmlns:a="http://schemas.openxmlformats.org/drawingml/2006/main" w="0">
            <a:solidFill>
              <a:srgbClr val="FAD0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1D2FD7-C3BF-4150-97BB-1D43AC16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912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Qualtrics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704748-0F49-49D1-9754-34A4F5B0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943600"/>
            <a:ext cx="876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AD0EB"/>
          </a:solidFill>
          <a:ln xmlns:a="http://schemas.openxmlformats.org/drawingml/2006/main" w="0">
            <a:solidFill>
              <a:srgbClr val="FAD0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5DCE8F-D7CA-4A49-9C3C-21CF9914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912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Typeform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B6B77C-60B8-4589-8C57-421F3ABD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943600"/>
            <a:ext cx="102108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AD0EB"/>
          </a:solidFill>
          <a:ln xmlns:a="http://schemas.openxmlformats.org/drawingml/2006/main" w="0">
            <a:solidFill>
              <a:srgbClr val="FAD0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D3BCBD-3B69-417C-9982-F2FA95B2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991225"/>
            <a:ext cx="8686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SurveyMonkey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50D323-7EC9-4A52-9EDA-65F4FDDC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530" y="594360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AD0EB"/>
          </a:solidFill>
          <a:ln xmlns:a="http://schemas.openxmlformats.org/drawingml/2006/main" w="0">
            <a:solidFill>
              <a:srgbClr val="FAD0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41BB67-E5D5-47AD-988A-4CF18DB1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0" y="5991225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XLSX / CSV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4444C1-AD85-4316-A577-537E8D6E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98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6B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750" b="0">
                <a:solidFill>
                  <a:srgbClr val="6B6B6B"/>
                </a:solidFill>
                <a:latin typeface="Noto Sans JP Light"/>
                <a:ea typeface="Noto Sans JP Light"/>
                <a:cs typeface="Noto Sans JP Light"/>
              </a:rPr>
              <a:t>Beispiele möglicher Anbindungen · abhängig von API, Lizenz und Berechtigung</a:t>
            </a:r>
          </a:p>
        </p:txBody>
      </p:sp>
    </p:spTree>
    <p:extLst>
      <p:ext uri="{BB962C8B-B14F-4D97-AF65-F5344CB8AC3E}">
        <p14:creationId xmlns:p14="http://schemas.microsoft.com/office/powerpoint/2010/main" val="1717472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e2a7d76fd424d"/>
          <a:stretch xmlns:a="http://schemas.openxmlformats.org/drawingml/2006/main"/>
        </p:blipFill>
        <p:spPr>
          <a:xfrm xmlns:a="http://schemas.openxmlformats.org/drawingml/2006/main">
            <a:off x="11099380" y="266700"/>
            <a:ext cx="66124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3568F-0C3A-418B-82AB-7A5024A9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CHECKION · DIGITAL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C420E-9146-455C-9686-B49FDE6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5CFF0-01DA-4C28-8B87-23BCB601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Qualität wird messbar – vor und nach dem Launch.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1D3B9-2F06-46FE-9DFC-B58FF9BD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CA55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00CA55"/>
                </a:solidFill>
                <a:latin typeface="Noto Sans JP Light"/>
                <a:ea typeface="Noto Sans JP Light"/>
                <a:cs typeface="Noto Sans JP Light"/>
              </a:rPr>
              <a:t>Technik, Accessibility, SEO und GEO in einer priorisierbaren Sicht.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36A6C-7625-45B2-8B4C-08441F54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74771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a7c1031804eba"/>
          <a:srcRect xmlns:a="http://schemas.openxmlformats.org/drawingml/2006/main" l="0" t="7585" r="0" b="75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038350"/>
            <a:ext cx="7286625" cy="3409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9BC3E-E18C-4231-A7F3-70D6E47C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43100"/>
            <a:ext cx="30670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F2D2"/>
          </a:solidFill>
          <a:ln xmlns:a="http://schemas.openxmlformats.org/drawingml/2006/main" w="0">
            <a:solidFill>
              <a:srgbClr val="BFF2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E7391-DA09-4419-94DC-E2192A97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09800"/>
            <a:ext cx="1485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8D59F-4EC3-48CE-B9A7-71F2CE3D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57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WCAG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74E02-7F40-43A9-AF2E-9FA07B6D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1485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F2A69-13FB-40BF-BE40-76470CE7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717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SEO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55A72-80D8-4A99-930F-0D3ACCD4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38500"/>
            <a:ext cx="1485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38CD2-BF67-465B-9857-F999FDBC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861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GEO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A402C-E8B9-4379-B481-E648E172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52850"/>
            <a:ext cx="1485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FBE11-A23B-4132-8C8E-1D28484B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004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F124D-1494-4BDF-A1BB-C447B2A4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57700"/>
            <a:ext cx="2400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Ein Befund.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Eine Priorität.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Ein überprüfbarer Fix.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7C593-E499-49AC-84F5-EAF00CC5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MÖGLICHE MESSQUELLEN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05FB9-F083-4A48-8487-EFA048CB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943600"/>
            <a:ext cx="115633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FF2D2"/>
          </a:solidFill>
          <a:ln xmlns:a="http://schemas.openxmlformats.org/drawingml/2006/main" w="0">
            <a:solidFill>
              <a:srgbClr val="BFF2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9D15B-091A-4218-9BE3-AA7364C1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91225"/>
            <a:ext cx="100393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Search Console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7C7165-9CF8-4CB6-9B04-DB2B0038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85" y="5943600"/>
            <a:ext cx="876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FF2D2"/>
          </a:solidFill>
          <a:ln xmlns:a="http://schemas.openxmlformats.org/drawingml/2006/main" w="0">
            <a:solidFill>
              <a:srgbClr val="BFF2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F940BF-F5CD-4767-8DD9-C05644F1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885" y="59912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PageSpeed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F08A0D-7A78-4295-9B3D-AF66137A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235" y="5943600"/>
            <a:ext cx="953453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FF2D2"/>
          </a:solidFill>
          <a:ln xmlns:a="http://schemas.openxmlformats.org/drawingml/2006/main" w="0">
            <a:solidFill>
              <a:srgbClr val="BFF2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FBE13B-B110-4E87-B049-E939F507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435" y="5991225"/>
            <a:ext cx="80105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Siteimprove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18DCAD-B3CB-4B78-9BD6-E78F8883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5943600"/>
            <a:ext cx="1223963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FF2D2"/>
          </a:solidFill>
          <a:ln xmlns:a="http://schemas.openxmlformats.org/drawingml/2006/main" w="0">
            <a:solidFill>
              <a:srgbClr val="BFF2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218D79-1B47-4B72-91D7-63ADA836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5991225"/>
            <a:ext cx="107156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Crawler-Exports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B1A3A2-1847-49E8-80BA-756915CC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98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6B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750" b="0">
                <a:solidFill>
                  <a:srgbClr val="6B6B6B"/>
                </a:solidFill>
                <a:latin typeface="Noto Sans JP Light"/>
                <a:ea typeface="Noto Sans JP Light"/>
                <a:cs typeface="Noto Sans JP Light"/>
              </a:rPr>
              <a:t>Beispiele möglicher Anbindungen · abhängig von API, Lizenz und Berechtigung</a:t>
            </a:r>
          </a:p>
        </p:txBody>
      </p:sp>
    </p:spTree>
    <p:extLst>
      <p:ext uri="{BB962C8B-B14F-4D97-AF65-F5344CB8AC3E}">
        <p14:creationId xmlns:p14="http://schemas.microsoft.com/office/powerpoint/2010/main" val="19269040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96622e9fa4c34"/>
          <a:stretch xmlns:a="http://schemas.openxmlformats.org/drawingml/2006/main"/>
        </p:blipFill>
        <p:spPr>
          <a:xfrm xmlns:a="http://schemas.openxmlformats.org/drawingml/2006/main">
            <a:off x="11099380" y="266700"/>
            <a:ext cx="66124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E5354-64DA-4A7C-A89E-06F1869F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BRANDION · PLEXON ECOSYSTEM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E292E-FC31-4934-A46A-79A87DDC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57F8D-57BA-49EA-B346-0CA69217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Marke wird zur prüfbaren Regel.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10417-1F97-4C92-8DE1-59EAE2EC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A3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FF6A3B"/>
                </a:solidFill>
                <a:latin typeface="Noto Sans JP Light"/>
                <a:ea typeface="Noto Sans JP Light"/>
                <a:cs typeface="Noto Sans JP Light"/>
              </a:rPr>
              <a:t>Guidelines, Tokens und Referenzmaterial werden maschinenlesbar – Prüfung bleibt nachvollziehbar.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F9BE7-3563-4C7F-A5A8-E1651693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5238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C2"/>
          </a:solidFill>
          <a:ln xmlns:a="http://schemas.openxmlformats.org/drawingml/2006/main" w="0">
            <a:solidFill>
              <a:srgbClr val="FF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92743-9EEF-4F90-BF4C-EC86EE41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ASSET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8C11C-47D3-400F-BAD6-19BBE3C7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28575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950C1-7883-44B5-8BFA-4B3AD924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2362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EADF1-5F1C-4F7C-917B-AFBBAE17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MAKE IT MATTER.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6F694-5259-43AB-8A49-452BBFA5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0055A-EA99-4BCF-BE41-41AEB810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9570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14D"/>
          </a:solidFill>
          <a:ln xmlns:a="http://schemas.openxmlformats.org/drawingml/2006/main" w="0">
            <a:solidFill>
              <a:srgbClr val="FEF1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A0CB2-1B0C-4EAB-8A42-59C6506E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A55"/>
          </a:solidFill>
          <a:ln xmlns:a="http://schemas.openxmlformats.org/drawingml/2006/main" w="0">
            <a:solidFill>
              <a:srgbClr val="00CA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BDB6D-8F76-455A-BDE4-55936ABB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4797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13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92263-C1DA-401C-A9AD-38B28E29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1333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Logo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Farbe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Typo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Kontrast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ED4C8-3791-445D-A6CA-73130F43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76450"/>
            <a:ext cx="52959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E5E96-8B50-4324-A695-B1D05068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RULE ENGINE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6385F6-0F71-4599-AA67-BE47D5F1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Logo clear space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531FDE-75C4-4B99-8DB9-7E3A1D25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71775"/>
            <a:ext cx="1504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CA55"/>
          </a:solidFill>
          <a:ln xmlns:a="http://schemas.openxmlformats.org/drawingml/2006/main" w="0">
            <a:solidFill>
              <a:srgbClr val="00CA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7530B-44DA-42F0-BE80-C8A09FFA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19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A96EFE-18BA-4E24-9539-D145F702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432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Primary palette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6212B4-3140-4613-B0BF-2E66547D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95650"/>
            <a:ext cx="1504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CA55"/>
          </a:solidFill>
          <a:ln xmlns:a="http://schemas.openxmlformats.org/drawingml/2006/main" w="0">
            <a:solidFill>
              <a:srgbClr val="00CA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2ED11D-5583-48D4-8FDE-F0EBAD11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4327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B8E41F-714A-4FA0-8ED3-97E7D6D2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67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Headline type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5F6893-490F-4A06-998E-3831EB78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19525"/>
            <a:ext cx="1504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EF14D"/>
          </a:solidFill>
          <a:ln xmlns:a="http://schemas.openxmlformats.org/drawingml/2006/main" w="0">
            <a:solidFill>
              <a:srgbClr val="FEF1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96E511-01E4-460C-AB97-3851E980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671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58815E-7576-400B-9BA3-52BD81B7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910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CTA contrast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7370A5-2EB9-4B7C-B537-8AAA4736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1504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6A3B"/>
          </a:solidFill>
          <a:ln xmlns:a="http://schemas.openxmlformats.org/drawingml/2006/main" w="0">
            <a:solidFill>
              <a:srgbClr val="FF6A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D28C82-2E25-4219-855C-D67A2262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9102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FAIL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E29E27-778A-4487-8DB1-6D9A89C1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MÖGLICHE BRAND-QUELLEN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E292DD-C94E-4C7B-BF62-B73DD3C6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943600"/>
            <a:ext cx="876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D0C2"/>
          </a:solidFill>
          <a:ln xmlns:a="http://schemas.openxmlformats.org/drawingml/2006/main" w="0">
            <a:solidFill>
              <a:srgbClr val="FF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D92E5F-F41B-4A1C-B2BE-172F1892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912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Figma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A68D30-2248-474B-B3C5-298CE27C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943600"/>
            <a:ext cx="876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D0C2"/>
          </a:solidFill>
          <a:ln xmlns:a="http://schemas.openxmlformats.org/drawingml/2006/main" w="0">
            <a:solidFill>
              <a:srgbClr val="FFD0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90FF40-CC11-471C-A003-03E7FF21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912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Frontify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6A95B3-E3D9-4958-BDE0-E75B3239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943600"/>
            <a:ext cx="876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D0C2"/>
          </a:solidFill>
          <a:ln xmlns:a="http://schemas.openxmlformats.org/drawingml/2006/main" w="0">
            <a:solidFill>
              <a:srgbClr val="FFD0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F27EB5-E2B5-4024-97A5-19E68150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9912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Bynder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C55C38-1122-4DB5-9F18-6A7C4DB4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943600"/>
            <a:ext cx="876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D0C2"/>
          </a:solidFill>
          <a:ln xmlns:a="http://schemas.openxmlformats.org/drawingml/2006/main" w="0">
            <a:solidFill>
              <a:srgbClr val="FFD0C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1C28FA-60AF-45B2-BA45-DC763AF1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9912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DAM / PIM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60CA60-C16A-464F-9FB2-4BE29A31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98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6B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750" b="0">
                <a:solidFill>
                  <a:srgbClr val="6B6B6B"/>
                </a:solidFill>
                <a:latin typeface="Noto Sans JP Light"/>
                <a:ea typeface="Noto Sans JP Light"/>
                <a:cs typeface="Noto Sans JP Light"/>
              </a:rPr>
              <a:t>Beispiele möglicher Anbindungen · abhängig von API, Lizenz und Berechtigung</a:t>
            </a:r>
          </a:p>
        </p:txBody>
      </p:sp>
    </p:spTree>
    <p:extLst>
      <p:ext uri="{BB962C8B-B14F-4D97-AF65-F5344CB8AC3E}">
        <p14:creationId xmlns:p14="http://schemas.microsoft.com/office/powerpoint/2010/main" val="13033947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EF1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a869b33ee42dd"/>
          <a:stretch xmlns:a="http://schemas.openxmlformats.org/drawingml/2006/main"/>
        </p:blipFill>
        <p:spPr>
          <a:xfrm xmlns:a="http://schemas.openxmlformats.org/drawingml/2006/main">
            <a:off x="11099380" y="266700"/>
            <a:ext cx="66124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49D6E-67A3-41B8-93C2-1A8B35D1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CREATION · RAPID PROTOTYPING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34EAA-AC85-40FC-AFB0-D6AA3343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007D4-B1FC-4B06-A69D-34246EF1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62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Erst sichtbar machen. Dann sauber ins CMS übergeben.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92952-0F9E-4BE9-8702-DF46E712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CREATION ist kein Allzweck-Studio – sondern die schnelle Oberfläche für Landing-Page-Varianten und strukturierte Übergaben.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6ED42-A3DE-4A07-9172-330721C8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247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C0140-B91A-4356-BE0A-C3AC0218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VARIANTE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A5027-0D50-475D-A551-AD64428C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171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50B64-00FD-441A-820D-D3B7AF57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33731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9641C-09B9-4819-B6D9-D2B45DC0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19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E3A0E-F846-4353-A83F-24612BF4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752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04B27-B9B8-4402-9872-BE656387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3EBC1-FE8E-49A2-9714-5F1FCB41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PREVIEW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92CA5-3E8C-4121-9B69-6B92C572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0250"/>
            <a:ext cx="2857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06097-C1BE-4A26-9AF4-BAB4879E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33600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VARIANTE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DBAFB-A2D4-4F13-9C83-89421F14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76500"/>
            <a:ext cx="255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A55"/>
          </a:solidFill>
          <a:ln xmlns:a="http://schemas.openxmlformats.org/drawingml/2006/main" w="0">
            <a:solidFill>
              <a:srgbClr val="00CA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FE6498-D71E-439B-ADCC-FCC6F140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14700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63E8C-1691-4FD8-9EFA-BAACAD4C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195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66B278-E5C0-4DA9-8A2A-48DB8960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10000"/>
            <a:ext cx="2133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32075-CA94-4AC0-B735-EFC1A5F1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815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91059-E8FE-4FDB-B1CD-D00BDA55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57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COMPARE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B222D-0132-40C2-8986-2EB37572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19350"/>
            <a:ext cx="22669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1DF4F3-0E60-448E-9689-F532D21A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VARIANTE 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5E831F-B525-4627-A91A-9E99AEB7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95600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B"/>
          </a:solidFill>
          <a:ln xmlns:a="http://schemas.openxmlformats.org/drawingml/2006/main" w="0">
            <a:solidFill>
              <a:srgbClr val="FF6A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45EF00-C761-4CE8-AC81-CB26F390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122415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4013DC-1863-4DDB-A67E-326C5835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8F6A86-95F5-48A2-A3F9-F160ACDB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29100"/>
            <a:ext cx="1543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A90B77-6439-4CD5-B701-D818A2CF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9D6ACE-EA69-4071-836E-163FC73E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244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PREVIEW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ABC065-49CC-4C91-8942-20C1A693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52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51D69E-4A24-462E-8871-C8DBAB73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861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14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22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A94DAB-ED8F-4BBC-8698-DBBDF443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479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0C1271-31E5-4823-A555-96C1A5AC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6220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CMS HANDOFF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FC2EC7-51F9-470B-964A-813C7B2D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575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EF14D"/>
          </a:solidFill>
          <a:ln xmlns:a="http://schemas.openxmlformats.org/drawingml/2006/main" w="0">
            <a:solidFill>
              <a:srgbClr val="FEF1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9DF7CA-8006-4C8F-A0D0-0CF89508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0512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Contentful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7ED7D2-00D7-4726-915C-AA6DAE21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3375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979195-51CD-4A55-B885-300DC417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8137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Storyblok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BE584D-4D86-4BE9-9DFB-CD597387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100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6AF1D8-4B9A-45E5-B6EB-5630C562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5762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Adobe AEM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25B91E-6A01-45F8-9919-3CCCEB1F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8625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9F7C88-DF18-40D0-85F7-E6F7EE0C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3387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Webflow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E2BE3C-2D03-4C8A-BE94-C6980443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577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API · Webhook · strukturierter Export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7946FE-CECC-4742-A3AE-21131CAF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KLARER SCOPE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C18A7C-5674-4391-A405-56FC21B0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943600"/>
            <a:ext cx="1223963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117ED6-8C65-4DD0-B55D-19AC4082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91225"/>
            <a:ext cx="107156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Rapid Prototype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E66DA2-4524-49A1-97CB-2B43280F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313" y="5943600"/>
            <a:ext cx="15716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FF67EC-D9C2-4FCF-93F3-560E9B00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13" y="5991225"/>
            <a:ext cx="1419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Landing-Page-Varianten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6746F7-B88C-4539-89EF-38CF31DE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188" y="5943600"/>
            <a:ext cx="1359218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F1F336-2C6C-4E98-AE13-998ECD3D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388" y="5991225"/>
            <a:ext cx="120681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CMS-Schnittstelle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526564-7CE4-4590-9035-62208767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98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6B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750" b="0">
                <a:solidFill>
                  <a:srgbClr val="6B6B6B"/>
                </a:solidFill>
                <a:latin typeface="Noto Sans JP Light"/>
                <a:ea typeface="Noto Sans JP Light"/>
                <a:cs typeface="Noto Sans JP Light"/>
              </a:rPr>
              <a:t>Beispiele möglicher Anbindungen · abhängig von API, Lizenz und Berechtigung</a:t>
            </a:r>
          </a:p>
        </p:txBody>
      </p:sp>
    </p:spTree>
    <p:extLst>
      <p:ext uri="{BB962C8B-B14F-4D97-AF65-F5344CB8AC3E}">
        <p14:creationId xmlns:p14="http://schemas.microsoft.com/office/powerpoint/2010/main" val="7655501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981275e054396"/>
          <a:stretch xmlns:a="http://schemas.openxmlformats.org/drawingml/2006/main"/>
        </p:blipFill>
        <p:spPr>
          <a:xfrm xmlns:a="http://schemas.openxmlformats.org/drawingml/2006/main">
            <a:off x="11099380" y="266700"/>
            <a:ext cx="66124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0734F-FFEF-47D1-82C6-6F5241BD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ZUSAMMENSPIEL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478A5-863A-4600-8049-9C37FDAE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445C6-41D8-4241-BE8A-032E4C66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Von der Marktbewegung zur überprüften Experience.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9AF11-10EB-48DB-AA42-D12687CE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Jeder Schritt kann interne und externe Systeme nutzen – der Kontext bleibt verbunden.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19927-2F16-4891-B5BF-C2EAE71B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1952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F2D2"/>
          </a:solidFill>
          <a:ln xmlns:a="http://schemas.openxmlformats.org/drawingml/2006/main" w="0">
            <a:solidFill>
              <a:srgbClr val="BFF2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9B9F1-7F61-4455-9386-231E1E7A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95E43-1EB7-46D8-B581-7CCC2441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647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BEOBACHTEN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C019D-7A65-441B-A691-9068F561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647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ECHON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584CF-CB5D-4363-852C-C7A3D53C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647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Meltwater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07135-B124-4BBA-AC99-693D0FB0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623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9021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9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61255-C9DE-4C0A-A638-5E711B4F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09800"/>
            <a:ext cx="1952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0EB"/>
          </a:solidFill>
          <a:ln xmlns:a="http://schemas.openxmlformats.org/drawingml/2006/main" w="0">
            <a:solidFill>
              <a:srgbClr val="FAD0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AF273-9701-4685-863D-F06A50AA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FDCBB-9F68-4559-9E63-EA49F48E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1647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VERSTEHEN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B696F-0ADB-439F-BA09-2DF0479D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14700"/>
            <a:ext cx="1647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AUDION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08C2A-5E45-4AFE-BD9F-A27AA8EE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1647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Qualtrics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FA44E-3C16-42C8-B015-D585E8DF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623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9021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9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26F0F-4A0D-4025-ACB8-754A2FDD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1952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124EFC-BB0F-4690-9056-910BAD97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B7915E-FA86-4B35-8127-F4E89005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1647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ENTSCHEIDEN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3D8282-6B66-4DF6-B152-853602A2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14700"/>
            <a:ext cx="1647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PLEXON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D081C2-0993-4DF6-A793-8B86DDE4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71950"/>
            <a:ext cx="1647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Briefing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7190F9-FBA4-44FD-886A-FC57AF98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623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9021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9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6E8808-80E3-4095-A898-410CBF9A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09800"/>
            <a:ext cx="1952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B7"/>
          </a:solidFill>
          <a:ln xmlns:a="http://schemas.openxmlformats.org/drawingml/2006/main" w="0">
            <a:solidFill>
              <a:srgbClr val="FFF9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985227-DD9A-4466-B5CD-386F7C51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81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925147-19AA-40D9-A2D5-C18D7FD0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81300"/>
            <a:ext cx="1647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PROTOTYP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A431D4-7493-4A5F-8D09-3D652CB5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14700"/>
            <a:ext cx="1647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CREATION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7BC595-ED18-4E01-879A-B23419F2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71950"/>
            <a:ext cx="1647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Figma / CMS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7893C2-C748-4975-B112-4891A558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623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9021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9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C3FFBC-B254-43DE-9B3B-2BE85EB5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09800"/>
            <a:ext cx="1952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C2"/>
          </a:solidFill>
          <a:ln xmlns:a="http://schemas.openxmlformats.org/drawingml/2006/main" w="0">
            <a:solidFill>
              <a:srgbClr val="FF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7D0EE0-20B7-439E-81C3-B62ADD97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CC23AA-7D65-4AAA-A839-DA5D0B7D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1300"/>
            <a:ext cx="1647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PRÜFEN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DBA12F-50F0-47EA-8D5D-D6F34A14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14700"/>
            <a:ext cx="1647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CHECKION + BRANDION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DE0589-E423-427F-92D6-3FE2963A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71950"/>
            <a:ext cx="1647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GSC / DAM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3194F7-895C-41F5-85DC-D47711D2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085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F74D4F-CD41-47A4-B33B-D5279CE0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32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66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CREATION baut nicht den gesamten Prozess ab. Es macht Entscheidungen früh sichtbar und bereitet die Übergabe in bestehende Produktionssysteme vor.</a:t>
            </a:r>
          </a:p>
        </p:txBody>
      </p:sp>
    </p:spTree>
    <p:extLst>
      <p:ext uri="{BB962C8B-B14F-4D97-AF65-F5344CB8AC3E}">
        <p14:creationId xmlns:p14="http://schemas.microsoft.com/office/powerpoint/2010/main" val="12337388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20d847eda43a8"/>
          <a:stretch xmlns:a="http://schemas.openxmlformats.org/drawingml/2006/main"/>
        </p:blipFill>
        <p:spPr>
          <a:xfrm xmlns:a="http://schemas.openxmlformats.org/drawingml/2006/main">
            <a:off x="11099380" y="266700"/>
            <a:ext cx="66124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A388C-3D2C-4095-8BC7-3A7AC619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INTEGRATIONSARCHITEKTUR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CC901-30A4-4843-BC62-B9D6385C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D6777-0A30-4D93-BB56-0A86C313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Jeder Prozess hat Andockpunkte.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829FF-1B05-4175-88A0-ED4F0F8A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56B6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F256B6"/>
                </a:solidFill>
                <a:latin typeface="Noto Sans JP Light"/>
                <a:ea typeface="Noto Sans JP Light"/>
                <a:cs typeface="Noto Sans JP Light"/>
              </a:rPr>
              <a:t>Integration ist eine Designentscheidung – kein Produktversprechen per Toolname.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03FC8-7026-4A73-B56B-29F1F908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24955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61BC2-D389-4C19-BB1D-8C4499BB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30C4A-4885-49C7-B75A-B4AE963C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10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lesen · schreiben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83028-9164-4EEE-B351-00746823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14550"/>
            <a:ext cx="24955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A55"/>
          </a:solidFill>
          <a:ln xmlns:a="http://schemas.openxmlformats.org/drawingml/2006/main" w="0">
            <a:solidFill>
              <a:srgbClr val="00CA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6E14C-76A3-4E70-A356-41D32C96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MCP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7E87D-95FB-4D68-A57A-485C4498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480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10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Tools für Agents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5740D-B461-45FE-9802-705817B0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14550"/>
            <a:ext cx="24955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14D"/>
          </a:solidFill>
          <a:ln xmlns:a="http://schemas.openxmlformats.org/drawingml/2006/main" w="0">
            <a:solidFill>
              <a:srgbClr val="FEF1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9C8A7-BEA3-4515-B828-9B7EE18F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IMPORT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B5BE5-5065-422F-B938-ACC29221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480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10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XLSX · CSV · 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5F239-AAE1-41C8-AAD7-3350AC45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14550"/>
            <a:ext cx="24955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B"/>
          </a:solidFill>
          <a:ln xmlns:a="http://schemas.openxmlformats.org/drawingml/2006/main" w="0">
            <a:solidFill>
              <a:srgbClr val="FF6A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9C47F-AFC0-4096-9AFD-6014738C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431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WEBHOOK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2002A-AA8C-46BF-8157-82157D5D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480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10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Events · Übergaben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2513D2-464D-4939-9303-133C89D7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10858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FCFD0E-DAD4-42F5-BF2C-04837BA9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CEA972-0B3C-4610-8339-E9033A8F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24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ZUGRIFF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E1BFF4-E92F-4A62-B190-2F91AB54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9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OAuth, Rollen, Datenräume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0223D2-62C7-43F1-8D87-1BB6E9D1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32320F-869F-48C4-B600-1EAEA1DC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24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VERTRAG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828646-DC0D-4DFE-AD64-8E114460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19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9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API-Plan, Rate Limits, Lizenzen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AA6951-5F2F-4EC7-BE9A-85B2425D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62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29A2C-F07B-415D-822B-CFB2DD07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24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GOVERNANCE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51584C-E315-420F-A705-FDD7263E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19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9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Freigabe, Nachweis, Monitoring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5E71DE-1738-4C67-A4FB-712DAF23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Die passende Anbindung wird pro Kunde und Use Case geprüft – technisch, rechtlich und wirtschaftlich.</a:t>
            </a:r>
          </a:p>
        </p:txBody>
      </p:sp>
    </p:spTree>
    <p:extLst>
      <p:ext uri="{BB962C8B-B14F-4D97-AF65-F5344CB8AC3E}">
        <p14:creationId xmlns:p14="http://schemas.microsoft.com/office/powerpoint/2010/main" val="213925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2e0c5ecf04fb8"/>
          <a:stretch xmlns:a="http://schemas.openxmlformats.org/drawingml/2006/main"/>
        </p:blipFill>
        <p:spPr>
          <a:xfrm xmlns:a="http://schemas.openxmlformats.org/drawingml/2006/main">
            <a:off x="11099380" y="266700"/>
            <a:ext cx="66124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0BDD8-C2FA-4E0B-ACDC-CC4919F4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B7875-51BD-42DE-99F7-8EB8CC61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6B3A6-AE18-4EB3-B276-05F01DED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Offen integrieren. Kontrolliert entscheiden.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B85F9-F18C-43A7-9618-A28ADB6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Externe Tools liefern Daten oder Aktionen. PLEXON hält Regeln, Rollen und Nachweise zusammen.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34D15-1289-4376-8118-5DD9D9B5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4955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0EB"/>
          </a:solidFill>
          <a:ln xmlns:a="http://schemas.openxmlformats.org/drawingml/2006/main" w="0">
            <a:solidFill>
              <a:srgbClr val="FAD0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C3B9E-8F05-4087-8CE0-CDE74757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5BCE1-CA84-497C-B8F8-AEBA8950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CFC23-35DE-46ED-B3BE-A055F967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Welche Quelle stützt die Aussage?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5A3F8-2F58-4F3D-A90A-1B9C03DD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24955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B7"/>
          </a:solidFill>
          <a:ln xmlns:a="http://schemas.openxmlformats.org/drawingml/2006/main" w="0">
            <a:solidFill>
              <a:srgbClr val="FFF9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BCF1A-17E9-4834-8AA5-56CA188E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812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5B9DD-A7ED-4A1F-A73E-3F16358C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384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7115B-1929-4D33-A8C6-81C44EB4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2900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Welche CI- und Prozessregeln gelten?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9AC7B-2BEF-4D17-B89B-1FC818DF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90750"/>
            <a:ext cx="24955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F2D2"/>
          </a:solidFill>
          <a:ln xmlns:a="http://schemas.openxmlformats.org/drawingml/2006/main" w="0">
            <a:solidFill>
              <a:srgbClr val="BFF2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FCB38-EFED-458B-99CB-BED83C57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0A49C-F381-433F-944F-C7C93D53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75C8F-F5CD-4C50-9CD5-8C6C0BF7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Wer prüft und gibt frei?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AC437-D01E-40A6-A285-4A027D6B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90750"/>
            <a:ext cx="24955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C2"/>
          </a:solidFill>
          <a:ln xmlns:a="http://schemas.openxmlformats.org/drawingml/2006/main" w="0">
            <a:solidFill>
              <a:srgbClr val="FF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D64B6-2389-43F0-B21D-7F3786DD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812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86E8F0-4547-4CDF-9AAE-DBFF900C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384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TRACE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5BA72-3C65-4B16-95A3-4EE4F382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2900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Was wurde wann entschieden?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9B0A84-3C01-45B3-A290-4B74A89C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1085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C747D7-910B-4515-A0FA-76E66E33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1032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AI beschleunigt Prüfung und Vorbereitung. Verantwortliche Menschen behalten Entscheidung und Freigabe.</a:t>
            </a:r>
          </a:p>
        </p:txBody>
      </p:sp>
    </p:spTree>
    <p:extLst>
      <p:ext uri="{BB962C8B-B14F-4D97-AF65-F5344CB8AC3E}">
        <p14:creationId xmlns:p14="http://schemas.microsoft.com/office/powerpoint/2010/main" val="517779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56B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cc462bfa547ea"/>
          <a:stretch xmlns:a="http://schemas.openxmlformats.org/drawingml/2006/main"/>
        </p:blipFill>
        <p:spPr>
          <a:xfrm xmlns:a="http://schemas.openxmlformats.org/drawingml/2006/main">
            <a:off x="11099380" y="266700"/>
            <a:ext cx="66124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BA44A-1CBF-4DD6-8F39-CBA60D0C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WIRKUNG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03ED3-D2FE-45C3-AD46-94DCD936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2D9C0-A86C-4357-AC6F-5E8CB4D1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21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Drei Perspektiven. Ein gemeinsamer Vorteil: weniger Kontextverlust.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DF009-F859-443C-931E-2DD2066C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3909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40C17-0991-461D-8354-8E7D624A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FÜR KUNDEN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EB772-139F-4020-8899-67C44305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Mehr Steuerbarkeit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3C2B5-538E-4820-8B2A-4323BFF6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971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Bestehende Systeme bleiben nutzbar. Entscheidungen werden nachvollziehbar.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81BC2-5C92-41CF-B28B-04D35F7B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00250"/>
            <a:ext cx="33909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8D483-47B0-426B-B06D-BF43A1CE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288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FÜR USER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E7B30-224D-4BE1-95A1-7540DF4C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241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Weniger Reibung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4E41B-EFF3-4812-8923-31DB0DF5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14750"/>
            <a:ext cx="2971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Research, Gestaltung und Prüfung greifen auf denselben Kontext zu.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71484-5463-4EE2-BBA5-DD9E022F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00250"/>
            <a:ext cx="33909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14D"/>
          </a:solidFill>
          <a:ln xmlns:a="http://schemas.openxmlformats.org/drawingml/2006/main" w="0">
            <a:solidFill>
              <a:srgbClr val="FEF1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C4B0B-3B5C-4280-A3CF-65CE5554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288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6B6B6B"/>
                </a:solidFill>
                <a:latin typeface="IBM Plex Mono"/>
                <a:ea typeface="IBM Plex Mono"/>
                <a:cs typeface="IBM Plex Mono"/>
              </a:rPr>
              <a:t>FÜR MSQ DX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5A011-3FDB-4CDB-B142-F703D2D6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Skalierbare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2444A-D356-4E8F-83BF-702FC962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14750"/>
            <a:ext cx="2971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Wiederverwendbare Flows verbinden Beratung, Kreation und Technologie.</a:t>
            </a:r>
          </a:p>
        </p:txBody>
      </p:sp>
    </p:spTree>
    <p:extLst>
      <p:ext uri="{BB962C8B-B14F-4D97-AF65-F5344CB8AC3E}">
        <p14:creationId xmlns:p14="http://schemas.microsoft.com/office/powerpoint/2010/main" val="20554042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0c6a4171543b7"/>
          <a:stretch xmlns:a="http://schemas.openxmlformats.org/drawingml/2006/main"/>
        </p:blipFill>
        <p:spPr>
          <a:xfrm xmlns:a="http://schemas.openxmlformats.org/drawingml/2006/main">
            <a:off x="11099380" y="266700"/>
            <a:ext cx="66124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9D14A-6B13-427A-93C3-44F3FD86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EINSTIEG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D692D-9A03-4C03-8B34-9EE97DDE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4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Nicht mit allen Tools starten.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Mit einem echten Prozess.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84AD0-8026-4B6A-800C-F06690FF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Ein relevanter Use Case zeigt schnell, welche Daten, Apps und Anbindungen wirklich Wert schaffen.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1BAE9-7642-4EBB-9ADE-3A579DF0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24384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16256-263A-48E2-929E-B79E2B69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75D8B-6F04-41CB-8439-DFBE2A4A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PROZESS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C0A52-79E2-40C3-B42B-18A3D46C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0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Eine konkrete Frage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4D26F-8BE2-47E2-BC4F-A9936083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14750"/>
            <a:ext cx="24384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14D"/>
          </a:solidFill>
          <a:ln xmlns:a="http://schemas.openxmlformats.org/drawingml/2006/main" w="0">
            <a:solidFill>
              <a:srgbClr val="FEF1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40BD8-0640-4C09-A472-04CE6A94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052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512A9-1D80-4AD4-BDE9-27E300EB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86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FFE62-3C45-4965-8CD4-191D438D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6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0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Vorhandene Systeme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C60274-B267-43F5-9898-0DD95930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24384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A55"/>
          </a:solidFill>
          <a:ln xmlns:a="http://schemas.openxmlformats.org/drawingml/2006/main" w="0">
            <a:solidFill>
              <a:srgbClr val="00CA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6088DF-B56E-4F02-B6B3-986CA5A7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052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FC41E2-51DA-4341-9174-F76B312F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86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73E04-6466-4478-ACAB-A65226D2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6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0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Messbare Entscheidung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FC2F6-8C06-4ED0-AB39-252E01C0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14750"/>
            <a:ext cx="24384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A0CEEA-C789-4EC5-AB6A-67CFF30F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LET’S BUILD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THE LOOP.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ABA6C-673E-467C-99A1-E175AFBE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PLEXON AI Suite · MSQ DX</a:t>
            </a:r>
          </a:p>
        </p:txBody>
      </p:sp>
    </p:spTree>
    <p:extLst>
      <p:ext uri="{BB962C8B-B14F-4D97-AF65-F5344CB8AC3E}">
        <p14:creationId xmlns:p14="http://schemas.microsoft.com/office/powerpoint/2010/main" val="582354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2026-08-25T14:32:16.1080000Z</dcterms:created>
  <dcterms:modified xsi:type="dcterms:W3CDTF">2026-08-25T14:32:16.1080000Z</dcterms:modified>
</coreProperties>
</file>