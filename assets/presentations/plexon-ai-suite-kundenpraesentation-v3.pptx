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f6a1031b0848a2" /><Relationship Type="http://schemas.openxmlformats.org/officeDocument/2006/relationships/extended-properties" Target="/docProps/app.xml" Id="R098bba9fa8d94d31" /><Relationship Type="http://schemas.openxmlformats.org/officeDocument/2006/relationships/officeDocument" Target="/ppt/presentation.xml" Id="Rd23205feeecd48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d6f10c93be46f8"/>
  </p:sldMasterIdLst>
  <p:notesMasterIdLst>
    <p:notesMasterId xmlns:r="http://schemas.openxmlformats.org/officeDocument/2006/relationships" r:id="R5c3bb455d6094e9d"/>
  </p:notesMasterIdLst>
  <p:sldIdLst>
    <p:sldId xmlns:r="http://schemas.openxmlformats.org/officeDocument/2006/relationships" id="256" r:id="Rcec46b3cec7c4fb3"/>
    <p:sldId xmlns:r="http://schemas.openxmlformats.org/officeDocument/2006/relationships" id="257" r:id="R4d358085b4da4a9e"/>
    <p:sldId xmlns:r="http://schemas.openxmlformats.org/officeDocument/2006/relationships" id="258" r:id="Ra34ec3b044294a06"/>
    <p:sldId xmlns:r="http://schemas.openxmlformats.org/officeDocument/2006/relationships" id="259" r:id="R971bf16c6ba1423b"/>
    <p:sldId xmlns:r="http://schemas.openxmlformats.org/officeDocument/2006/relationships" id="260" r:id="Recbf74d20fd941b6"/>
    <p:sldId xmlns:r="http://schemas.openxmlformats.org/officeDocument/2006/relationships" id="261" r:id="Rbe23734e601f4cd1"/>
    <p:sldId xmlns:r="http://schemas.openxmlformats.org/officeDocument/2006/relationships" id="262" r:id="R409a6b136b4b43a0"/>
    <p:sldId xmlns:r="http://schemas.openxmlformats.org/officeDocument/2006/relationships" id="263" r:id="R19fcca9e589440ef"/>
    <p:sldId xmlns:r="http://schemas.openxmlformats.org/officeDocument/2006/relationships" id="264" r:id="R6878197035d448fd"/>
    <p:sldId xmlns:r="http://schemas.openxmlformats.org/officeDocument/2006/relationships" id="265" r:id="Ra69ae8f07dca40a8"/>
    <p:sldId xmlns:r="http://schemas.openxmlformats.org/officeDocument/2006/relationships" id="266" r:id="Rfd95f85fe68646df"/>
    <p:sldId xmlns:r="http://schemas.openxmlformats.org/officeDocument/2006/relationships" id="267" r:id="Rc663ab1789254ad7"/>
    <p:sldId xmlns:r="http://schemas.openxmlformats.org/officeDocument/2006/relationships" id="268" r:id="Rce74b622839a49a6"/>
    <p:sldId xmlns:r="http://schemas.openxmlformats.org/officeDocument/2006/relationships" id="269" r:id="R74ef7881492c4448"/>
    <p:sldId xmlns:r="http://schemas.openxmlformats.org/officeDocument/2006/relationships" id="270" r:id="R8457a6ab441642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4ca73ea7054a1c" /><Relationship Type="http://schemas.openxmlformats.org/officeDocument/2006/relationships/slideMaster" Target="/ppt/slideMasters/slideMaster1.xml" Id="Rf3d6f10c93be46f8" /><Relationship Type="http://schemas.openxmlformats.org/officeDocument/2006/relationships/notesMaster" Target="/ppt/notesMasters/notesMaster1.xml" Id="R5c3bb455d6094e9d" /><Relationship Type="http://schemas.openxmlformats.org/officeDocument/2006/relationships/presProps" Target="/ppt/presProps.xml" Id="Rc1603312e422493a" /><Relationship Type="http://schemas.openxmlformats.org/officeDocument/2006/relationships/tableStyles" Target="/ppt/tableStyles.xml" Id="R853aced8e1614beb" /><Relationship Type="http://schemas.openxmlformats.org/officeDocument/2006/relationships/slide" Target="/ppt/slides/slide1.xml" Id="Rcec46b3cec7c4fb3" /><Relationship Type="http://schemas.openxmlformats.org/officeDocument/2006/relationships/slide" Target="/ppt/slides/slide2.xml" Id="R4d358085b4da4a9e" /><Relationship Type="http://schemas.openxmlformats.org/officeDocument/2006/relationships/slide" Target="/ppt/slides/slide3.xml" Id="Ra34ec3b044294a06" /><Relationship Type="http://schemas.openxmlformats.org/officeDocument/2006/relationships/slide" Target="/ppt/slides/slide4.xml" Id="R971bf16c6ba1423b" /><Relationship Type="http://schemas.openxmlformats.org/officeDocument/2006/relationships/slide" Target="/ppt/slides/slide5.xml" Id="Recbf74d20fd941b6" /><Relationship Type="http://schemas.openxmlformats.org/officeDocument/2006/relationships/slide" Target="/ppt/slides/slide6.xml" Id="Rbe23734e601f4cd1" /><Relationship Type="http://schemas.openxmlformats.org/officeDocument/2006/relationships/slide" Target="/ppt/slides/slide7.xml" Id="R409a6b136b4b43a0" /><Relationship Type="http://schemas.openxmlformats.org/officeDocument/2006/relationships/slide" Target="/ppt/slides/slide8.xml" Id="R19fcca9e589440ef" /><Relationship Type="http://schemas.openxmlformats.org/officeDocument/2006/relationships/slide" Target="/ppt/slides/slide9.xml" Id="R6878197035d448fd" /><Relationship Type="http://schemas.openxmlformats.org/officeDocument/2006/relationships/slide" Target="/ppt/slides/slide10.xml" Id="Ra69ae8f07dca40a8" /><Relationship Type="http://schemas.openxmlformats.org/officeDocument/2006/relationships/slide" Target="/ppt/slides/slide11.xml" Id="Rfd95f85fe68646df" /><Relationship Type="http://schemas.openxmlformats.org/officeDocument/2006/relationships/slide" Target="/ppt/slides/slide12.xml" Id="Rc663ab1789254ad7" /><Relationship Type="http://schemas.openxmlformats.org/officeDocument/2006/relationships/slide" Target="/ppt/slides/slide13.xml" Id="Rce74b622839a49a6" /><Relationship Type="http://schemas.openxmlformats.org/officeDocument/2006/relationships/slide" Target="/ppt/slides/slide14.xml" Id="R74ef7881492c4448" /><Relationship Type="http://schemas.openxmlformats.org/officeDocument/2006/relationships/slide" Target="/ppt/slides/slide15.xml" Id="R8457a6ab441642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cb31ad1c514e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6de98c7d654717" /><Relationship Type="http://schemas.openxmlformats.org/officeDocument/2006/relationships/notesMaster" Target="/ppt/notesMasters/notesMaster1.xml" Id="R0c572bd68f984c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6cde6e661148d2" /><Relationship Type="http://schemas.openxmlformats.org/officeDocument/2006/relationships/notesMaster" Target="/ppt/notesMasters/notesMaster1.xml" Id="Ra51f2996315d46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cfa6de836443a9" /><Relationship Type="http://schemas.openxmlformats.org/officeDocument/2006/relationships/notesMaster" Target="/ppt/notesMasters/notesMaster1.xml" Id="R0c4d46a4e9d54c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51f243e1cf4af9" /><Relationship Type="http://schemas.openxmlformats.org/officeDocument/2006/relationships/notesMaster" Target="/ppt/notesMasters/notesMaster1.xml" Id="Rfa275a3354c041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eeaa4666774aa8" /><Relationship Type="http://schemas.openxmlformats.org/officeDocument/2006/relationships/notesMaster" Target="/ppt/notesMasters/notesMaster1.xml" Id="Rea71d4ec489241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5f7ca94b3746f2" /><Relationship Type="http://schemas.openxmlformats.org/officeDocument/2006/relationships/notesMaster" Target="/ppt/notesMasters/notesMaster1.xml" Id="Rb919e93e3d9348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ed359cb2dd49a3" /><Relationship Type="http://schemas.openxmlformats.org/officeDocument/2006/relationships/notesMaster" Target="/ppt/notesMasters/notesMaster1.xml" Id="R702ccc0648fb49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344cffef2f4459" /><Relationship Type="http://schemas.openxmlformats.org/officeDocument/2006/relationships/notesMaster" Target="/ppt/notesMasters/notesMaster1.xml" Id="R9a043b09f6804c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6ebc545ee642c7" /><Relationship Type="http://schemas.openxmlformats.org/officeDocument/2006/relationships/notesMaster" Target="/ppt/notesMasters/notesMaster1.xml" Id="R88c46e95fa7a43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77838e0b454d92" /><Relationship Type="http://schemas.openxmlformats.org/officeDocument/2006/relationships/notesMaster" Target="/ppt/notesMasters/notesMaster1.xml" Id="R8bda9b9ed44d45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4177df2f274d97" /><Relationship Type="http://schemas.openxmlformats.org/officeDocument/2006/relationships/notesMaster" Target="/ppt/notesMasters/notesMaster1.xml" Id="R911fe9f5f1d54a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729461fb6b44bf" /><Relationship Type="http://schemas.openxmlformats.org/officeDocument/2006/relationships/notesMaster" Target="/ppt/notesMasters/notesMaster1.xml" Id="R0b8e7d194fd647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6921d478b34496" /><Relationship Type="http://schemas.openxmlformats.org/officeDocument/2006/relationships/notesMaster" Target="/ppt/notesMasters/notesMaster1.xml" Id="R12dde5fb74ef4d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06839b64b94ee2" /><Relationship Type="http://schemas.openxmlformats.org/officeDocument/2006/relationships/notesMaster" Target="/ppt/notesMasters/notesMaster1.xml" Id="Rba3adaa7f89445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cd6f1c16a44145" /><Relationship Type="http://schemas.openxmlformats.org/officeDocument/2006/relationships/notesMaster" Target="/ppt/notesMasters/notesMaster1.xml" Id="R31a079d0ffec48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visual asset created specifically for this deck.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visual asset created specifically for this deck.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visual asset created specifically for this deck.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visual asset created specifically for this deck.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visual asset created specifically for this deck.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visual asset created specifically for this deck.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CHECKION product tutorial screenshots from knowledge/tutorials/assets/checkion-article/.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https://developers.brandwatch.com/</a:t>
            </a:r>
          </a:p>
          <a:p xmlns:a="http://schemas.openxmlformats.org/drawingml/2006/main">
            <a:r>
              <a:t>- https://developer.meltwater.com/docs/</a:t>
            </a:r>
          </a:p>
          <a:p xmlns:a="http://schemas.openxmlformats.org/drawingml/2006/main">
            <a:r>
              <a:t>- https://developers.similarweb.com/docs/similarweb-web-traffic-api</a:t>
            </a:r>
          </a:p>
          <a:p xmlns:a="http://schemas.openxmlformats.org/drawingml/2006/main">
            <a:r>
              <a:t>- https://api.qualtrics.com/</a:t>
            </a:r>
          </a:p>
          <a:p xmlns:a="http://schemas.openxmlformats.org/drawingml/2006/main">
            <a:r>
              <a:t>- https://www.typeform.com/developers/</a:t>
            </a:r>
          </a:p>
          <a:p xmlns:a="http://schemas.openxmlformats.org/drawingml/2006/main">
            <a:r>
              <a:t>- https://developer.surveymonkey.com/api/v3/</a:t>
            </a:r>
          </a:p>
          <a:p xmlns:a="http://schemas.openxmlformats.org/drawingml/2006/main">
            <a:r>
              <a:t>- https://developers.google.com/webmaster-tools/v1/api_reference_index</a:t>
            </a:r>
          </a:p>
          <a:p xmlns:a="http://schemas.openxmlformats.org/drawingml/2006/main">
            <a:r>
              <a:t>- https://developers.google.com/speed/docs/insights/v5/get-started</a:t>
            </a:r>
          </a:p>
          <a:p xmlns:a="http://schemas.openxmlformats.org/drawingml/2006/main">
            <a:r>
              <a:t>- https://developer.siteimprove.com/</a:t>
            </a:r>
          </a:p>
          <a:p xmlns:a="http://schemas.openxmlformats.org/drawingml/2006/main">
            <a:r>
              <a:t>- https://developers.figma.com/docs/rest-api/</a:t>
            </a:r>
          </a:p>
          <a:p xmlns:a="http://schemas.openxmlformats.org/drawingml/2006/main">
            <a:r>
              <a:t>- https://developer.frontify.com/</a:t>
            </a:r>
          </a:p>
          <a:p xmlns:a="http://schemas.openxmlformats.org/drawingml/2006/main">
            <a:r>
              <a:t>- https://developers.bynder.com/</a:t>
            </a:r>
          </a:p>
          <a:p xmlns:a="http://schemas.openxmlformats.org/drawingml/2006/main">
            <a:r>
              <a:t>- https://www.contentful.com/developers/docs/references/api-basics/</a:t>
            </a:r>
          </a:p>
          <a:p xmlns:a="http://schemas.openxmlformats.org/drawingml/2006/main">
            <a:r>
              <a:t>- https://www.storyblok.com/docs/api/management</a:t>
            </a:r>
          </a:p>
          <a:p xmlns:a="http://schemas.openxmlformats.org/drawingml/2006/main">
            <a:r>
              <a:t>- https://experienceleague.adobe.com/en/docs/experience-manager-cloud-service/content/headless/introduction</a:t>
            </a:r>
          </a:p>
          <a:p xmlns:a="http://schemas.openxmlformats.org/drawingml/2006/main">
            <a:r>
              <a:t>- https://developers.webflow.com/data/reference/content-management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992200348a43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40b6d0b02045c9" /><Relationship Type="http://schemas.openxmlformats.org/officeDocument/2006/relationships/slideLayout" Target="/ppt/slideLayouts/slideLayout1.xml" Id="R0dad1b83e3e149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ad1b83e3e149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35970a8b04935" /><Relationship Type="http://schemas.openxmlformats.org/officeDocument/2006/relationships/image" Target="/ppt/media/image.png" Id="R2ab101d1e41f4a45" /><Relationship Type="http://schemas.openxmlformats.org/officeDocument/2006/relationships/image" Target="/ppt/media/image2.png" Id="R956fbbc60c3f41b3" /><Relationship Type="http://schemas.openxmlformats.org/officeDocument/2006/relationships/notesSlide" Target="/ppt/notesSlides/notesSlide1.xml" Id="Rd10694c4912b4b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afea3cda2460e" /><Relationship Type="http://schemas.openxmlformats.org/officeDocument/2006/relationships/image" Target="/ppt/media/image3.png" Id="R22eb5597d38746a4" /><Relationship Type="http://schemas.openxmlformats.org/officeDocument/2006/relationships/notesSlide" Target="/ppt/notesSlides/notesSlide2.xml" Id="R34c65bd79a2d48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c2dde771e4f2b" /><Relationship Type="http://schemas.openxmlformats.org/officeDocument/2006/relationships/image" Target="/ppt/media/image4.png" Id="R01179931ce75480f" /><Relationship Type="http://schemas.openxmlformats.org/officeDocument/2006/relationships/notesSlide" Target="/ppt/notesSlides/notesSlide3.xml" Id="R4f06400535124d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77dfe24df4b5e" /><Relationship Type="http://schemas.openxmlformats.org/officeDocument/2006/relationships/image" Target="/ppt/media/image5.png" Id="R535db96c4bc5485b" /><Relationship Type="http://schemas.openxmlformats.org/officeDocument/2006/relationships/notesSlide" Target="/ppt/notesSlides/notesSlide4.xml" Id="Rbc2c945c93434d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02465a3b244f6" /><Relationship Type="http://schemas.openxmlformats.org/officeDocument/2006/relationships/image" Target="/ppt/media/image6.png" Id="R8a51dd26717e435e" /><Relationship Type="http://schemas.openxmlformats.org/officeDocument/2006/relationships/image" Target="/ppt/media/image7.png" Id="R2f27bdbfd5c04ae7" /><Relationship Type="http://schemas.openxmlformats.org/officeDocument/2006/relationships/notesSlide" Target="/ppt/notesSlides/notesSlide5.xml" Id="Re1282900f31a4e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4a7e224814d54" /><Relationship Type="http://schemas.openxmlformats.org/officeDocument/2006/relationships/image" Target="/ppt/media/image8.png" Id="R69948dccddc543ed" /><Relationship Type="http://schemas.openxmlformats.org/officeDocument/2006/relationships/notesSlide" Target="/ppt/notesSlides/notesSlide6.xml" Id="R4c38de9cd0be42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5d356fe7f4678" /><Relationship Type="http://schemas.openxmlformats.org/officeDocument/2006/relationships/image" Target="/ppt/media/image9.png" Id="R4db8f47a0f444989" /><Relationship Type="http://schemas.openxmlformats.org/officeDocument/2006/relationships/image" Target="/ppt/media/image10.png" Id="R40888b087e054787" /><Relationship Type="http://schemas.openxmlformats.org/officeDocument/2006/relationships/notesSlide" Target="/ppt/notesSlides/notesSlide7.xml" Id="R6e47a013d49641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41688537c443c" /><Relationship Type="http://schemas.openxmlformats.org/officeDocument/2006/relationships/image" Target="/ppt/media/image11.png" Id="R19a0bc3d5d354c30" /><Relationship Type="http://schemas.openxmlformats.org/officeDocument/2006/relationships/image" Target="/ppt/media/image12.png" Id="Rf5351ee6db794c4c" /><Relationship Type="http://schemas.openxmlformats.org/officeDocument/2006/relationships/notesSlide" Target="/ppt/notesSlides/notesSlide8.xml" Id="R08b9838d697448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bda231bec44dc" /><Relationship Type="http://schemas.openxmlformats.org/officeDocument/2006/relationships/image" Target="/ppt/media/image13.png" Id="R77df80a1ecaa466b" /><Relationship Type="http://schemas.openxmlformats.org/officeDocument/2006/relationships/image" Target="/ppt/media/image14.png" Id="R445c520d8d9c4aaf" /><Relationship Type="http://schemas.openxmlformats.org/officeDocument/2006/relationships/notesSlide" Target="/ppt/notesSlides/notesSlide9.xml" Id="Rd044c354dfd74d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81c72487146b0" /><Relationship Type="http://schemas.openxmlformats.org/officeDocument/2006/relationships/image" Target="/ppt/media/image15.png" Id="R47afa9c6f7f641f1" /><Relationship Type="http://schemas.openxmlformats.org/officeDocument/2006/relationships/image" Target="/ppt/media/image16.png" Id="R022431a46f114ae5" /><Relationship Type="http://schemas.openxmlformats.org/officeDocument/2006/relationships/notesSlide" Target="/ppt/notesSlides/notesSlide10.xml" Id="R9b9a79913a784c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1fa155ffa4248" /><Relationship Type="http://schemas.openxmlformats.org/officeDocument/2006/relationships/image" Target="/ppt/media/image17.png" Id="R7e46f1ec8cff46c0" /><Relationship Type="http://schemas.openxmlformats.org/officeDocument/2006/relationships/image" Target="/ppt/media/image.jpeg" Id="R3591953349f74c67" /><Relationship Type="http://schemas.openxmlformats.org/officeDocument/2006/relationships/image" Target="/ppt/media/image2.jpeg" Id="R3cdde63f59a0453f" /><Relationship Type="http://schemas.openxmlformats.org/officeDocument/2006/relationships/image" Target="/ppt/media/image3.jpeg" Id="R983b285d2acc4c42" /><Relationship Type="http://schemas.openxmlformats.org/officeDocument/2006/relationships/notesSlide" Target="/ppt/notesSlides/notesSlide11.xml" Id="Rd650087a2c4041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91ba5fb124433" /><Relationship Type="http://schemas.openxmlformats.org/officeDocument/2006/relationships/image" Target="/ppt/media/image18.png" Id="R726be3258c744558" /><Relationship Type="http://schemas.openxmlformats.org/officeDocument/2006/relationships/notesSlide" Target="/ppt/notesSlides/notesSlide12.xml" Id="R47605ce55e2b48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152427d1e480e" /><Relationship Type="http://schemas.openxmlformats.org/officeDocument/2006/relationships/image" Target="/ppt/media/image19.png" Id="R5a90b8f1d30e4bb6" /><Relationship Type="http://schemas.openxmlformats.org/officeDocument/2006/relationships/notesSlide" Target="/ppt/notesSlides/notesSlide13.xml" Id="Ree09b47d42dd40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1b3786e954ca4" /><Relationship Type="http://schemas.openxmlformats.org/officeDocument/2006/relationships/image" Target="/ppt/media/image20.png" Id="Rb56f6e431ebf47b0" /><Relationship Type="http://schemas.openxmlformats.org/officeDocument/2006/relationships/notesSlide" Target="/ppt/notesSlides/notesSlide14.xml" Id="Rff783b7085284a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b03054b254cad" /><Relationship Type="http://schemas.openxmlformats.org/officeDocument/2006/relationships/image" Target="/ppt/media/image21.png" Id="Rbdf898fb658f458c" /><Relationship Type="http://schemas.openxmlformats.org/officeDocument/2006/relationships/notesSlide" Target="/ppt/notesSlides/notesSlide15.xml" Id="R466ede8b034f42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101d1e41f4a4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BD810-B576-41A0-A815-1620ADEC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27924-CBB5-4AF4-A304-A90BCA95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PLEXON AI SUITE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fbbc60c3f41b3"/>
          <a:stretch xmlns:a="http://schemas.openxmlformats.org/drawingml/2006/main"/>
        </p:blipFill>
        <p:spPr>
          <a:xfrm xmlns:a="http://schemas.openxmlformats.org/drawingml/2006/main">
            <a:off x="11087572" y="257175"/>
            <a:ext cx="684855" cy="2762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B4966-378C-4CD0-A093-C455CDA9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Spezialisierte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Fähigkeiten.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Gemeinsame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Intelligenz.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FC747-48CD-4DE4-A781-380FF4F3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4238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3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PLEXON verbindet Wissen in agentischen Workflows – und macht neue Zusammenhänge nutzbar.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1BEDB-86C9-41C4-A474-617164C5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1ECEA-9D54-4A2F-98D3-5240CE94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MSQ DX ·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E71B6-E53A-4A96-80EB-034C687B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9B9B9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0">
                <a:solidFill>
                  <a:srgbClr val="B9B9B9"/>
                </a:solidFill>
                <a:latin typeface="IBM Plex Mono"/>
                <a:ea typeface="IBM Plex Mono"/>
                <a:cs typeface="IBM Plex Mono"/>
              </a:rPr>
              <a:t>KUNDENPRÄSENTATION</a:t>
            </a:r>
          </a:p>
        </p:txBody>
      </p:sp>
    </p:spTree>
    <p:extLst>
      <p:ext uri="{BB962C8B-B14F-4D97-AF65-F5344CB8AC3E}">
        <p14:creationId xmlns:p14="http://schemas.microsoft.com/office/powerpoint/2010/main" val="1707583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A7BDDB-C0EE-488A-B824-A8FEC891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AUSGANGSLAGE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b5597d38746a4"/>
          <a:stretch xmlns:a="http://schemas.openxmlformats.org/drawingml/2006/main"/>
        </p:blipFill>
        <p:spPr>
          <a:xfrm xmlns:a="http://schemas.openxmlformats.org/drawingml/2006/main">
            <a:off x="11087572" y="257175"/>
            <a:ext cx="684855" cy="2762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A54B1-BEF2-40D4-A8D8-544D483A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86868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0">
                <a:solidFill>
                  <a:srgbClr val="6868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2F660-14B1-4978-B477-1DFC885E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Mehr Tools schaffen noch keinen gemeinsamen Kontext.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F7D2E-FE8E-4C54-87C1-66623D04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MaFo, Marktsignale, Brandwissen, Kreation und Qualitätsdaten liegen oft nebeneinander. Die Übergaben kosten Herkunft, Tempo und Wirkung.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5BBEF-7C39-4C6D-84F0-F707B2BA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577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03A42-0A0C-4A7E-8208-248CABDB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672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15978-2A0E-42F0-9719-03A4993F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577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04011-9359-4545-89A1-6180338A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672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7C9CA-580E-48FD-943A-716F000B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6954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E7"/>
          </a:solidFill>
          <a:ln xmlns:a="http://schemas.openxmlformats.org/drawingml/2006/main" w="0">
            <a:solidFill>
              <a:srgbClr val="F8CB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4991E-B088-4B81-8302-E82CD503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686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6868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EEFCA-F47A-4753-8A04-71282224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MaFo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20B02-8105-4DAB-9600-1BD01264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6868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975" b="1">
                <a:solidFill>
                  <a:srgbClr val="686868"/>
                </a:solidFill>
                <a:latin typeface="Noto Sans JP Light"/>
                <a:ea typeface="Noto Sans JP Light"/>
                <a:cs typeface="Noto Sans JP Light"/>
              </a:rPr>
              <a:t>Studien · Segmente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F9C05-3DB9-46F5-9D6C-B32584C5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19450"/>
            <a:ext cx="16954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FCF"/>
          </a:solidFill>
          <a:ln xmlns:a="http://schemas.openxmlformats.org/drawingml/2006/main" w="0">
            <a:solidFill>
              <a:srgbClr val="BDEF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F5879-EF52-4E8A-90AD-884B0208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686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6868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61170D-7861-44AD-8BFA-7FDDE8F0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6240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Markt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C1899-BE44-47CB-88BB-C57B99AC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291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6868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975" b="1">
                <a:solidFill>
                  <a:srgbClr val="686868"/>
                </a:solidFill>
                <a:latin typeface="Noto Sans JP Light"/>
                <a:ea typeface="Noto Sans JP Light"/>
                <a:cs typeface="Noto Sans JP Light"/>
              </a:rPr>
              <a:t>Signale · Szenarien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6690F9-8BD2-401C-BB7A-57A2F5F9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09850"/>
            <a:ext cx="16954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C1"/>
          </a:solidFill>
          <a:ln xmlns:a="http://schemas.openxmlformats.org/drawingml/2006/main" w="0">
            <a:solidFill>
              <a:srgbClr val="FFD0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2D47CC-B74B-4A3F-8C17-CC2BE9D7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62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686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6868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EB5435-A8E3-4029-93D4-537906B0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5280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Marke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4FEE6-D084-4B70-B3CA-6608623F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195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6868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975" b="1">
                <a:solidFill>
                  <a:srgbClr val="686868"/>
                </a:solidFill>
                <a:latin typeface="Noto Sans JP Light"/>
                <a:ea typeface="Noto Sans JP Light"/>
                <a:cs typeface="Noto Sans JP Light"/>
              </a:rPr>
              <a:t>Regeln · Assets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1F40AC-C7E8-4715-897A-A4417F2A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16954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AA"/>
          </a:solidFill>
          <a:ln xmlns:a="http://schemas.openxmlformats.org/drawingml/2006/main" w="0">
            <a:solidFill>
              <a:srgbClr val="FFF8A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723DD8-65C3-4B4F-ADBF-194C6615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766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686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68686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00CBB1-FAE1-4CCC-9681-F16AEDA7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671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Kreation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606B61-EFC4-4540-A68B-D87AE750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3390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6868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975" b="1">
                <a:solidFill>
                  <a:srgbClr val="686868"/>
                </a:solidFill>
                <a:latin typeface="Noto Sans JP Light"/>
                <a:ea typeface="Noto Sans JP Light"/>
                <a:cs typeface="Noto Sans JP Light"/>
              </a:rPr>
              <a:t>Ideen · Prototypen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C321F7-3EC8-4B09-BDD2-7F3A2C16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16954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40AAE0-DC5F-4541-A484-EFA1CC19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8BB84C-61DD-4B5B-9703-7E2D96E3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861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Qualität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993E00-D925-463B-A57C-8D23CBC1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5290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97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SEO · GEO · Content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6BF639-5ABB-40B0-87B6-AF86B703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19400"/>
            <a:ext cx="1543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E14C85-15DC-4EC1-8300-CB1D7E8F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19450"/>
            <a:ext cx="1257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KONTEXT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VERLUST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439665-5770-4F5A-AFFA-217DC39B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30530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an jeder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Übergabe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9B3038-5CF4-4BB1-BDC3-90A2B9E2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Das Problem ist nicht das einzelne Tool. Sondern der fehlende gemeinsame Arbeitskreislauf.</a:t>
            </a:r>
          </a:p>
        </p:txBody>
      </p:sp>
    </p:spTree>
    <p:extLst>
      <p:ext uri="{BB962C8B-B14F-4D97-AF65-F5344CB8AC3E}">
        <p14:creationId xmlns:p14="http://schemas.microsoft.com/office/powerpoint/2010/main" val="8676218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56B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A25DC9-7495-41BF-A780-2C857133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HERO USE CASE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79931ce75480f"/>
          <a:stretch xmlns:a="http://schemas.openxmlformats.org/drawingml/2006/main"/>
        </p:blipFill>
        <p:spPr>
          <a:xfrm xmlns:a="http://schemas.openxmlformats.org/drawingml/2006/main">
            <a:off x="11087572" y="257175"/>
            <a:ext cx="684855" cy="2762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2C297-34A9-4423-9E80-A329253E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86868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0">
                <a:solidFill>
                  <a:srgbClr val="6868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A6B76-5279-4261-9A6C-D80DF956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7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Vom Signal oder Briefing zur optimierten Landingpage.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D0968-F0C5-4951-850E-4C582A22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0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Zwei Einstiegspunkte. Ein gemeinsamer Kontext. Nur die Fähigkeiten, die der Use Case wirklich braucht.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6815A-EE15-4D0E-ABF4-82AD28DF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146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F2D17-2742-4AA0-AC55-8DEADD36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1A5AC-5DB5-486B-AD18-F35E90F2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457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630C7-D61E-4C55-8B1D-1D3CB0AC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52850"/>
            <a:ext cx="1866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314D4-4531-4340-A479-C284036C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5285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0E441-D47B-4B91-ACEF-5DA9DD33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76625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09B0D-4D0E-4FC5-813F-20C13506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1695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A55"/>
          </a:solidFill>
          <a:ln xmlns:a="http://schemas.openxmlformats.org/drawingml/2006/main" w="0">
            <a:solidFill>
              <a:srgbClr val="00CA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5DCB7-BA63-4D99-825A-22F3E826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150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MARKTSIGNAL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ECHON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EEC444-49E8-46BC-84F5-DB080773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1695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FF9EF-5B2C-4947-B530-924B9591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150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KUNDEN-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BRIEFING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0661B-DA97-4724-BAE1-3E62EE92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90875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0E05BC-64E5-4663-B01B-A5098AC0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67075"/>
            <a:ext cx="1600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PLEXON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8E941-DF6D-4052-A10D-F2DCD638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575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E7"/>
          </a:solidFill>
          <a:ln xmlns:a="http://schemas.openxmlformats.org/drawingml/2006/main" w="0">
            <a:solidFill>
              <a:srgbClr val="F8CB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753D7D-8EF9-482F-86C6-F4A4F7B3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337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PERSONA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5552C0-A288-4366-9633-CE6E12AB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14D"/>
          </a:solidFill>
          <a:ln xmlns:a="http://schemas.openxmlformats.org/drawingml/2006/main" w="0">
            <a:solidFill>
              <a:srgbClr val="FEF1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27B215-BE5C-4D3C-AA25-52AA2770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337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PROTOTYP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E5697C-43F9-489C-8235-7C41973B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575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B"/>
          </a:solidFill>
          <a:ln xmlns:a="http://schemas.openxmlformats.org/drawingml/2006/main" w="0">
            <a:solidFill>
              <a:srgbClr val="FF6A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FCB33F-C5DC-44D3-8E36-E7CF8AD3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337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MARKE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7963F2-375F-46EF-B0DE-1D82394F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575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A55"/>
          </a:solidFill>
          <a:ln xmlns:a="http://schemas.openxmlformats.org/drawingml/2006/main" w="0">
            <a:solidFill>
              <a:srgbClr val="00CA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2E625A-4258-4131-A85C-74C75A3C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337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QUALITÄT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7B3D3F-74E8-4E7E-94FD-D66D6B7E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66950"/>
            <a:ext cx="22098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636904-9837-4EA9-BA8F-B26F1FC3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717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867925-8C69-4157-8AEA-61465107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914650"/>
            <a:ext cx="1733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14D"/>
          </a:solidFill>
          <a:ln xmlns:a="http://schemas.openxmlformats.org/drawingml/2006/main" w="0">
            <a:solidFill>
              <a:srgbClr val="FEF1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A5981C-E38C-4BB8-AA3A-70126BC3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242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LANDINGPAGE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BA7982-2CF0-4B6C-A0C5-E6472DDB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8290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 w="0">
            <a:solidFill>
              <a:srgbClr val="D6D6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65C3C3-63F7-4A21-B45A-3D35BCA8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38600"/>
            <a:ext cx="135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 w="0">
            <a:solidFill>
              <a:srgbClr val="D6D6D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8495FA-AE69-4B60-939E-820869B2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248150"/>
            <a:ext cx="1571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 w="0">
            <a:solidFill>
              <a:srgbClr val="D6D6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3DA658-6E75-4CA0-AEBB-ABE5D8D0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67250"/>
            <a:ext cx="104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FFB3CC-96D5-4CD6-BFA0-9907C698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7434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CMS-READY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33E352-AB31-4A67-BBB7-285378D5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VALIDIERT · MARKENKONFORM · PRÜFBAR</a:t>
            </a:r>
          </a:p>
        </p:txBody>
      </p:sp>
    </p:spTree>
    <p:extLst>
      <p:ext uri="{BB962C8B-B14F-4D97-AF65-F5344CB8AC3E}">
        <p14:creationId xmlns:p14="http://schemas.microsoft.com/office/powerpoint/2010/main" val="5515627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BDF267-A93E-4207-A847-24A81BD2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END-TO-END JOURNEY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db96c4bc5485b"/>
          <a:stretch xmlns:a="http://schemas.openxmlformats.org/drawingml/2006/main"/>
        </p:blipFill>
        <p:spPr>
          <a:xfrm xmlns:a="http://schemas.openxmlformats.org/drawingml/2006/main">
            <a:off x="11087572" y="257175"/>
            <a:ext cx="684855" cy="2762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9B06D-87BD-4E3E-A50F-DA79D8DA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98C97-2E38-4222-AFF7-A60BAB62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7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Ein Prozess. Viele Spezialisten. Ein lernender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628E1-A85C-47C7-AC3D-8F9D745F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57375"/>
            <a:ext cx="285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C1471-17C2-4452-A145-B1AD183E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57375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F039A-E441-4986-90F9-E90BBE14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19250"/>
            <a:ext cx="285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B4AAF-CFAF-4875-A65A-356B4C10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19250"/>
            <a:ext cx="223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56E97-2ED6-4463-8137-30B43F2A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285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82E80-881F-4EB3-899A-AF244DDD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90E26-9012-43F8-9FF4-6603CB81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85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CA2F6-8BDE-4F39-BB0A-76332CA9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E5B5C-4596-4F67-85E1-BE5E8B4B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05125"/>
            <a:ext cx="285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498E22-FC7B-4206-A7D0-01CC50AD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7200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F30F1-BB7E-4745-A8AE-C9FAC28F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7200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464B5-2407-4F47-A872-8A8CD443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257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9D9EC-8B5B-4FC5-9693-66518CBF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28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30B4F9-C044-44B1-A338-E869AF35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257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C39E6-1833-410A-9778-3718FEA8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285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DE8D09-8875-4511-BAD4-6EF04140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76500"/>
            <a:ext cx="1857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588C1B-B79E-4FAD-9751-087F99AE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24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ERGEBNISSE</a:t>
            </a:r>
          </a:p>
          <a:p xmlns:a="http://schemas.openxmlformats.org/drawingml/2006/main">
            <a:pPr algn="ctr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ZURÜCK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707E40-444C-4760-AAFD-F6412CF8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A55"/>
          </a:solidFill>
          <a:ln xmlns:a="http://schemas.openxmlformats.org/drawingml/2006/main" w="0">
            <a:solidFill>
              <a:srgbClr val="00CA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450439-9B8D-4063-A5C5-1C4207D4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193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ECHON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99A423-776D-4FE8-812D-E6DB771E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Research Brief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9FD334-FF78-470E-B6FF-E04D5AAA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240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E7"/>
          </a:solidFill>
          <a:ln xmlns:a="http://schemas.openxmlformats.org/drawingml/2006/main" w="0">
            <a:solidFill>
              <a:srgbClr val="F8CB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83FDBA-98CD-4475-883D-FC33A255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002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AUDION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8F114D-BFB9-432F-88F0-65381EBB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717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Evidence Matrix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F8A6CB-129D-4522-9E44-5FE00313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285875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425B1D-548B-483E-969C-64CC1E28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6207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PLEXON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E58069-4326-485E-9FDC-A290358A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335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Orchestrierter 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9DC322-C5DC-44D5-9F73-69FF78C6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192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14D"/>
          </a:solidFill>
          <a:ln xmlns:a="http://schemas.openxmlformats.org/drawingml/2006/main" w="0">
            <a:solidFill>
              <a:srgbClr val="FEF14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CC2DD8-7008-4607-A770-E40977C2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954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CREATION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48CCC4-1289-4DE3-8202-FCE18B37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66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Prototyp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3A5A9B-F249-4261-91D6-4D51FF61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717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B"/>
          </a:solidFill>
          <a:ln xmlns:a="http://schemas.openxmlformats.org/drawingml/2006/main" w="0">
            <a:solidFill>
              <a:srgbClr val="FF6A3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5699F8-65CC-4048-8710-B32E2791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479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BRANDION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4486B2-9881-45AF-81A4-986A7088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19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Freigabe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4E1CA0-0DBC-4424-9EED-7456EDE2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38625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D32C56-7290-4EEB-9238-580C18AF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148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CMS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E49F36-6FD4-4BCF-A102-4D487AFC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863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Live-Seite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F2786D-24BD-488F-B085-D46B08C1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619625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FCF"/>
          </a:solidFill>
          <a:ln xmlns:a="http://schemas.openxmlformats.org/drawingml/2006/main" w="0">
            <a:solidFill>
              <a:srgbClr val="BDEFC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F975FD-D52A-4779-A2D1-2FE4D115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6958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CHECKION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F0314F-23E4-4DA6-BC28-BD88928A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2673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Findings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358B8B-B1FE-451B-8F4D-9A13EA99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316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KONTEXT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F4673D-1A2C-4FCE-A012-8E530841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333750"/>
            <a:ext cx="411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Quellen · Entscheidungen · Ergebnisse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083ED1-9B21-4755-90F7-864E1F0E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05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Kein Pflichtparcours: Jede Journey ist modular und wird pro Prozess zusammengestellt.</a:t>
            </a:r>
          </a:p>
        </p:txBody>
      </p:sp>
    </p:spTree>
    <p:extLst>
      <p:ext uri="{BB962C8B-B14F-4D97-AF65-F5344CB8AC3E}">
        <p14:creationId xmlns:p14="http://schemas.microsoft.com/office/powerpoint/2010/main" val="13502350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1dd26717e435e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6E471-71D1-4781-A95A-3573B549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PLEXON · ORCHESTRATION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7bdbfd5c04ae7"/>
          <a:stretch xmlns:a="http://schemas.openxmlformats.org/drawingml/2006/main"/>
        </p:blipFill>
        <p:spPr>
          <a:xfrm xmlns:a="http://schemas.openxmlformats.org/drawingml/2006/main">
            <a:off x="11087572" y="257175"/>
            <a:ext cx="684855" cy="2762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7D482-7027-4EE7-88E0-19CDE649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86868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0">
                <a:solidFill>
                  <a:srgbClr val="686868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D4E83-BCC2-4519-81BD-61E37BC6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Aus verteiltem Wissen wird handlungsfähige Intelligenz.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95BF3-5333-40D0-A84A-86A2824D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428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PLEXON verknüpft Quellen, Personas, Apps, Ergebnisse und Entscheidungen in ausgelösten oder konfigurierten agentischen Workflows.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FB57F-652C-499F-99CE-FAF8D61F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3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KONTEXT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084E0-E95F-4C5A-9A6F-C55858B4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385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13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ORCHESTRIERUNG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B79CB-F9E9-4C54-BD13-B0638C97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7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CA55"/>
                </a:solidFill>
                <a:latin typeface="IBM Plex Mono"/>
                <a:ea typeface="IBM Plex Mono"/>
                <a:cs typeface="IBM Plex Mono"/>
              </a:defRPr>
            </a:pPr>
            <a:r>
              <a:rPr sz="1350" b="1">
                <a:solidFill>
                  <a:srgbClr val="00CA55"/>
                </a:solidFill>
                <a:latin typeface="IBM Plex Mono"/>
                <a:ea typeface="IBM Plex Mono"/>
                <a:cs typeface="IBM Plex Mono"/>
              </a:rPr>
              <a:t>NACHWEIS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19FDE-CCF6-4589-996D-FF2EB23C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92063-7F51-4B25-9F6A-AD3096DB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95625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NEW INSIGHT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4F551-CA08-4164-8647-AEF23BAF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A68D1-EF77-439E-A409-3C53F50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530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PRODUKTNAH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E121D-C9AB-4A02-A213-A1C9E273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Run-Historie · Freigaben · MCP / API / Webhook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30994-7D8B-4F61-BA8B-8686892F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A55"/>
          </a:solidFill>
          <a:ln xmlns:a="http://schemas.openxmlformats.org/drawingml/2006/main" w="0">
            <a:solidFill>
              <a:srgbClr val="00CA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1D32E8-0628-41C6-ADE9-11320A22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88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CA55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00CA55"/>
                </a:solidFill>
                <a:latin typeface="IBM Plex Mono"/>
                <a:ea typeface="IBM Plex Mono"/>
                <a:cs typeface="IBM Plex Mono"/>
              </a:rPr>
              <a:t>PILOT-KPI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629AA-D6EA-4845-82FF-2E040170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Time-to-Insight</a:t>
            </a:r>
          </a:p>
        </p:txBody>
      </p:sp>
    </p:spTree>
    <p:extLst>
      <p:ext uri="{BB962C8B-B14F-4D97-AF65-F5344CB8AC3E}">
        <p14:creationId xmlns:p14="http://schemas.microsoft.com/office/powerpoint/2010/main" val="7560324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A93120-04BB-4C98-8CA0-8896A022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PLEXON · WORKFLOW BUILDER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48dccddc543ed"/>
          <a:stretch xmlns:a="http://schemas.openxmlformats.org/drawingml/2006/main"/>
        </p:blipFill>
        <p:spPr>
          <a:xfrm xmlns:a="http://schemas.openxmlformats.org/drawingml/2006/main">
            <a:off x="11087572" y="257175"/>
            <a:ext cx="684855" cy="2762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2984D-8985-42C1-9D4B-E62B65E8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8C430-5598-4C2A-90D6-13F5BAD9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9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Autonomie, die sich steuern lässt.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5623A-246E-4755-8418-F5C92DA7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Trigger, Spezialfähigkeiten, Freigaben und Wiederholungen werden zu einem nachvollziehbaren Ablauf.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2ECAF-A3AB-43D1-97CE-8B816B37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19425"/>
            <a:ext cx="952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38B4A-9B39-40C1-A0BF-53B17917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7241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92165-D64D-43CE-8665-24084702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752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FDB304-374F-41AA-8052-7211593F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0BE91-767C-48BA-A3AF-BB2D89E0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47BDF-7583-4831-92F9-24DECCB0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UI · Assistant</a:t>
            </a:r>
          </a:p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Webhook ·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D857C-FBAE-4242-9679-C891B6C7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62200"/>
            <a:ext cx="1752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79A8A-9915-4235-898F-41ECB6AB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955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6868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6868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10461-9224-4128-A6FF-E9EA707C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03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AGENTS +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8C8DB-1027-40F1-AF89-D25AC915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194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PLEXON Apps</a:t>
            </a:r>
          </a:p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APIs · MCP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37F8C-6300-4BD7-9EF3-F26C0046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62200"/>
            <a:ext cx="1752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14D"/>
          </a:solidFill>
          <a:ln xmlns:a="http://schemas.openxmlformats.org/drawingml/2006/main" w="0">
            <a:solidFill>
              <a:srgbClr val="FEF1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E3352-BDD7-41E1-A589-83EFD126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955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049E28-F4CA-46A0-8236-4F1C034C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003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FREIGABE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29D3EB-ABF6-4EAE-A03A-2E7A24FA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194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Rolle · Gate</a:t>
            </a:r>
          </a:p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Entscheidung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6C8592-97C5-436F-9C62-E6E23A37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62200"/>
            <a:ext cx="1752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A55"/>
          </a:solidFill>
          <a:ln xmlns:a="http://schemas.openxmlformats.org/drawingml/2006/main" w="0">
            <a:solidFill>
              <a:srgbClr val="00CA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CC3A53-1E07-4754-BA45-269DD697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DD83B1-5363-4BED-A959-BC6D9970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03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AKTION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7CC4BB-E829-48CE-A14C-EF5B90C3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194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Brief · Prototype</a:t>
            </a:r>
          </a:p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Check · Handoff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5ED28E-3F1F-4A93-8D0F-22893E3A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62200"/>
            <a:ext cx="1752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B"/>
          </a:solidFill>
          <a:ln xmlns:a="http://schemas.openxmlformats.org/drawingml/2006/main" w="0">
            <a:solidFill>
              <a:srgbClr val="FF6A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3688DA-B32B-4E18-AA55-107B5268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955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644C3E-97FB-4ED2-9A92-C5684526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03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WIEDERHOLUNG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E8C8AA-E38F-4C2D-9D56-37D0C35C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194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Re-Run</a:t>
            </a:r>
          </a:p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externer Trigger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C8FB94-7AF3-4BEC-9859-0EB6FA6A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VORSCHLAGEN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7E6FB5-8EA0-4B10-9E5D-00162FD1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67200"/>
            <a:ext cx="766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868"/>
          </a:solidFill>
          <a:ln xmlns:a="http://schemas.openxmlformats.org/drawingml/2006/main" w="0">
            <a:solidFill>
              <a:srgbClr val="6868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19E759-8B58-42E6-98F2-17A7458A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71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ANALYSIEREN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87F69A-FD98-4DDF-93B9-9F7D20BA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71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MIT FREIGABE HANDELN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A59EB2-26F8-499C-933E-39975E94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71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BEGRENZT AUTONOM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E9E320-BF02-4E4F-ADBD-793FCD1D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3581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87574A-DEE8-4E90-AEEC-FFBA15C7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704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074640-49F5-4498-B5B7-C342FB63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10150"/>
            <a:ext cx="571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HEUTE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23470E-AABF-4BA2-A2AE-A323076D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0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Definierte Flows · Gates · Run-Historie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85F00E-996A-4777-9B77-F99D9268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19650"/>
            <a:ext cx="3581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0ED990-D51E-4A2D-A341-6A0A75A1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62525"/>
            <a:ext cx="1219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14D"/>
          </a:solidFill>
          <a:ln xmlns:a="http://schemas.openxmlformats.org/drawingml/2006/main" w="0">
            <a:solidFill>
              <a:srgbClr val="FEF1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BA6B19-CA5B-4836-9EC3-6034EB31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10150"/>
            <a:ext cx="1085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KONFIGURIERBAR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83CC80-E33F-4ACD-BA12-1DD16390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149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05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Adapter · externe Zeitsteuerung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F2B1FA-D325-40B0-BAA1-6E26D01E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9650"/>
            <a:ext cx="3581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9BE866-D9DD-4BD3-B04D-6987959A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62525"/>
            <a:ext cx="819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A55"/>
          </a:solidFill>
          <a:ln xmlns:a="http://schemas.openxmlformats.org/drawingml/2006/main" w="0">
            <a:solidFill>
              <a:srgbClr val="00CA5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B0782E-12D5-41FD-9BE6-6ED5E11E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010150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ROADMAP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2D3072-DAC1-4EB4-B07E-000D608C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14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97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Native Pläne · universelle Tool-Nodes · Dauer-Loops</a:t>
            </a:r>
          </a:p>
        </p:txBody>
      </p:sp>
    </p:spTree>
    <p:extLst>
      <p:ext uri="{BB962C8B-B14F-4D97-AF65-F5344CB8AC3E}">
        <p14:creationId xmlns:p14="http://schemas.microsoft.com/office/powerpoint/2010/main" val="7721624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8f47a0f444989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E96C0-BEB6-41B3-A189-D8483E49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10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EC009-CCCD-4E2A-9D39-742DE4E9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ECHON · MARKET INTELLIGENCE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88b087e054787"/>
          <a:stretch xmlns:a="http://schemas.openxmlformats.org/drawingml/2006/main"/>
        </p:blipFill>
        <p:spPr>
          <a:xfrm xmlns:a="http://schemas.openxmlformats.org/drawingml/2006/main">
            <a:off x="11087572" y="257175"/>
            <a:ext cx="684855" cy="2762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BF6F6-0058-420C-B6A1-21055A5E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1D575-30A0-406B-93D2-D5BAB885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Aus Marktbewegungen werden Entscheidungen.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A8820-22E5-4D53-AC69-5A8D3135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ECHON verdichtet Markt- und Pressesignale zu Watchlists, Szenarien und zitierbaren Research Briefings.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7065A-570B-482E-93A3-A6CFC19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CA55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00CA55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15E7F-DA92-4D13-860C-378C43DF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10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BEOBACHTEN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31AF5-A863-4C27-95F4-BC8AE4A3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CA55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00CA5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D4270-590B-43A3-A51C-974DA63A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10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VERDICHTEN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D7035-AAB8-4EA4-9495-08E45903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CA55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00CA5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EB921-6824-4807-A202-97247B39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10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PRIORISIEREN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D2365-9F11-496C-8DF3-4C57AFD9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CA55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00CA55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9F341-B9B3-40D4-B824-64974527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10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BRIEFEN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DBC8C-EED9-4458-A173-033D0EBC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A0E6FE-844D-419F-B60B-0AF4ED8E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RESEARCH BRIEF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BC803C-D49E-49DE-909D-090DFDB3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686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686868"/>
                </a:solidFill>
                <a:latin typeface="IBM Plex Mono"/>
                <a:ea typeface="IBM Plex Mono"/>
                <a:cs typeface="IBM Plex Mono"/>
              </a:rPr>
              <a:t>Priorität · Szenario · Quellen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442446-C6EF-420B-BE81-E8A37991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A55"/>
          </a:solidFill>
          <a:ln xmlns:a="http://schemas.openxmlformats.org/drawingml/2006/main" w="0">
            <a:solidFill>
              <a:srgbClr val="00CA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00EAAA-B28C-4441-82B3-E42AA0BA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CA55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00CA55"/>
                </a:solidFill>
                <a:latin typeface="IBM Plex Mono"/>
                <a:ea typeface="IBM Plex Mono"/>
                <a:cs typeface="IBM Plex Mono"/>
              </a:rPr>
              <a:t>PRODUKTNAH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52B048-C576-4A1C-B74A-065B4ABA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Signale · Quellen · Briefings</a:t>
            </a:r>
          </a:p>
        </p:txBody>
      </p:sp>
    </p:spTree>
    <p:extLst>
      <p:ext uri="{BB962C8B-B14F-4D97-AF65-F5344CB8AC3E}">
        <p14:creationId xmlns:p14="http://schemas.microsoft.com/office/powerpoint/2010/main" val="2373975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0bc3d5d354c30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7B3EC-B67C-436A-AEB7-4FCF60BA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AUDION · PERSONA INTELLIGENCE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51ee6db794c4c"/>
          <a:stretch xmlns:a="http://schemas.openxmlformats.org/drawingml/2006/main"/>
        </p:blipFill>
        <p:spPr>
          <a:xfrm xmlns:a="http://schemas.openxmlformats.org/drawingml/2006/main">
            <a:off x="11087572" y="257175"/>
            <a:ext cx="684855" cy="2762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10F43-190B-4025-8090-E014AB4A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86868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0">
                <a:solidFill>
                  <a:srgbClr val="686868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8AD0F-9652-4FDD-83BD-39C4E15F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4953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Zielgruppenwissen wird zum Gesprächspartner.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ECF69-4201-4A79-A666-4B4E387E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MaFo und Quellen werden zu research-basierten Personas – für konkrete Fragen, Ideenchecks und Zielgruppenkontext in der gesamten Suite.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7550C-B558-4737-98C5-3B605ABF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123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9CCF1-D2D8-4279-B4D2-C15D248A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43275"/>
            <a:ext cx="1104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TEXT · HEUTE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5BBA0-8861-4AF0-8641-E6F20331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95650"/>
            <a:ext cx="1752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33771-2967-421D-9D17-91E1D6A9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3432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VIDEO · KONFIGURIERT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9E4B6-1A92-4D93-A162-8C1B6C02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95650"/>
            <a:ext cx="1866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A0823-8C61-4D1E-8D83-0F522A59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343275"/>
            <a:ext cx="1733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VOICE · IN VORBEREITUNG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25372-99F0-417A-B264-3F304C22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EVIDENCE CHAIN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B3321-5EF3-4B42-ABBC-3D168C6F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90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QUELLE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80242-5D51-4F31-9386-13E5550D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7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50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4B4BA-6CA7-4CDD-A56E-272099B7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0530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INTERPRETATION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0FC595-F803-41F0-9B01-3AD25BEB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767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7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50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D26B5-FFF7-4E14-ABED-983F5A79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053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SIMULATION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F3E648-6959-49CF-B6F2-1A72BC71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244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97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Personas ergänzen empirische Forschung. Sie ersetzen sie nicht.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6501BB-BDCF-4780-A692-5E95E309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AEDB9-3218-4BB5-AD2D-8DFB3091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CROSS-APP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CC1EAB-9AF1-40E4-A0A2-B82E9069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GEO-Fragen · Markt-Relevanz · Resonanzfeedback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547E72-2B73-4097-8BAB-3FA74D0C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57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A55"/>
          </a:solidFill>
          <a:ln xmlns:a="http://schemas.openxmlformats.org/drawingml/2006/main" w="0">
            <a:solidFill>
              <a:srgbClr val="00CA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3A0257-E605-426A-AAE2-77B55C87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CA55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00CA55"/>
                </a:solidFill>
                <a:latin typeface="IBM Plex Mono"/>
                <a:ea typeface="IBM Plex Mono"/>
                <a:cs typeface="IBM Plex Mono"/>
              </a:rPr>
              <a:t>PILOT-KPI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2B352A-C215-4036-B102-8A46CBD5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Validierungszeit · Evidence Coverage</a:t>
            </a:r>
          </a:p>
        </p:txBody>
      </p:sp>
    </p:spTree>
    <p:extLst>
      <p:ext uri="{BB962C8B-B14F-4D97-AF65-F5344CB8AC3E}">
        <p14:creationId xmlns:p14="http://schemas.microsoft.com/office/powerpoint/2010/main" val="5712998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EF1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f80a1ecaa466b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A1A16-AECE-4F5D-975E-C8FD1CB0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CREATION · RAPID PROTOTYPING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c520d8d9c4aaf"/>
          <a:stretch xmlns:a="http://schemas.openxmlformats.org/drawingml/2006/main"/>
        </p:blipFill>
        <p:spPr>
          <a:xfrm xmlns:a="http://schemas.openxmlformats.org/drawingml/2006/main">
            <a:off x="11087572" y="257175"/>
            <a:ext cx="684855" cy="2762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A2210-6C06-4839-94A8-6B191B87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86868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0">
                <a:solidFill>
                  <a:srgbClr val="686868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79288-C66A-4ACF-97AA-FB1F52F3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5334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0D502-19E0-4F37-A96B-21783A46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4667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85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Ideen werden sichtbar, bevor Produktion beginnt.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BAEF7-4179-4F95-8CE9-B4559DAA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CREATION visualisiert Landingpages und PDPs – und überführt ausgewählte Varianten in wiederverwendbare React-/Storybook-Bausteine.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44D12-1209-4B3F-BF87-F388252B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0070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DA39E-21ED-4D99-9437-9F1DD005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97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BRIEF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46827-43E5-4179-8406-1B88DA38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43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581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56B6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1">
                <a:solidFill>
                  <a:srgbClr val="F256B6"/>
                </a:solidFill>
                <a:latin typeface="Noto Sans JP Light"/>
                <a:ea typeface="Noto Sans JP Light"/>
                <a:cs typeface="Noto Sans JP Ligh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B8507-123F-4C7B-9B7D-487381CD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8197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EF14D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EF14D"/>
                </a:solidFill>
                <a:latin typeface="IBM Plex Mono"/>
                <a:ea typeface="IBM Plex Mono"/>
                <a:cs typeface="IBM Plex Mono"/>
              </a:rPr>
              <a:t>VARIANTEN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A2180-713A-42C3-8E20-F0B4A087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743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581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56B6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1">
                <a:solidFill>
                  <a:srgbClr val="F256B6"/>
                </a:solidFill>
                <a:latin typeface="Noto Sans JP Light"/>
                <a:ea typeface="Noto Sans JP Light"/>
                <a:cs typeface="Noto Sans JP Light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7C5F9-C7B5-4EED-8685-C71B020C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197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PERSONA + BRAND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5FF25-1B63-4D4F-AC32-233C3BE8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743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581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56B6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1">
                <a:solidFill>
                  <a:srgbClr val="F256B6"/>
                </a:solidFill>
                <a:latin typeface="Noto Sans JP Light"/>
                <a:ea typeface="Noto Sans JP Light"/>
                <a:cs typeface="Noto Sans JP Light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19ED10-136B-40F1-B177-09F4D610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8197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FREIGABE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0DC23-A995-4126-BF79-EF12808A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743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581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56B6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1">
                <a:solidFill>
                  <a:srgbClr val="F256B6"/>
                </a:solidFill>
                <a:latin typeface="Noto Sans JP Light"/>
                <a:ea typeface="Noto Sans JP Light"/>
                <a:cs typeface="Noto Sans JP Light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E7E001-3BC4-485D-A89C-68195274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197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REACT / STORYBOOK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20EE0-44E6-463B-817E-CE9AD44E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1912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9B9B9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B9B9B9"/>
                </a:solidFill>
                <a:latin typeface="IBM Plex Mono"/>
                <a:ea typeface="IBM Plex Mono"/>
                <a:cs typeface="IBM Plex Mono"/>
              </a:rPr>
              <a:t>CMS-Anbindungen werden projektspezifisch ergänzt.</a:t>
            </a:r>
          </a:p>
        </p:txBody>
      </p:sp>
    </p:spTree>
    <p:extLst>
      <p:ext uri="{BB962C8B-B14F-4D97-AF65-F5344CB8AC3E}">
        <p14:creationId xmlns:p14="http://schemas.microsoft.com/office/powerpoint/2010/main" val="15853511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6A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fa9c6f7f641f1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5D07D-7448-44D3-A650-FD0EC3B7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10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B9EFA-7ED9-4A10-AD01-B1ECEA98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BRANDION · BRAND GOVERNANCE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431a46f114ae5"/>
          <a:stretch xmlns:a="http://schemas.openxmlformats.org/drawingml/2006/main"/>
        </p:blipFill>
        <p:spPr>
          <a:xfrm xmlns:a="http://schemas.openxmlformats.org/drawingml/2006/main">
            <a:off x="11087572" y="257175"/>
            <a:ext cx="684855" cy="2762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96DB2-0A9B-499B-A3ED-1A048A5C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E72C5-7B66-433D-8E47-87159936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4095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01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7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Marke wird anwendbar. Und überprüfbar.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63554-A0FB-4C30-89DF-F522C065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3886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Brandwissen, Tokens und Guidelines stehen als gemeinsamer Kontext bereit – für digitale und druckfertige PDF-/Bild-Assets.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5FA3D-80BC-4BCB-ACC7-75E4D586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3B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F6A3B"/>
                </a:solidFill>
                <a:latin typeface="IBM Plex Mono"/>
                <a:ea typeface="IBM Plex Mono"/>
                <a:cs typeface="IBM Plex Mono"/>
              </a:rPr>
              <a:t>01  COMPLIANCE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E3132-5E4C-43C6-99E1-9C0FA63A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Farbe · Typografie · Layout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Sprache · Logo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42438-DAFC-4D7F-A1E4-28A43BC5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868"/>
          </a:solidFill>
          <a:ln xmlns:a="http://schemas.openxmlformats.org/drawingml/2006/main" w="0">
            <a:solidFill>
              <a:srgbClr val="6868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CA78A-F439-4F54-80B8-2ED31565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02  RESONANZ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43BBF-5EC2-499B-A2F2-A52FFF28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Persona-Wirkung optional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über PLEXON + AUDION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142B2-5D40-4F6F-AF40-361BF7E6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B"/>
          </a:solidFill>
          <a:ln xmlns:a="http://schemas.openxmlformats.org/drawingml/2006/main" w="0">
            <a:solidFill>
              <a:srgbClr val="FF6A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D86B2-1167-48A8-B461-28524AD2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6A3B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FF6A3B"/>
                </a:solidFill>
                <a:latin typeface="IBM Plex Mono"/>
                <a:ea typeface="IBM Plex Mono"/>
                <a:cs typeface="IBM Plex Mono"/>
              </a:rPr>
              <a:t>PRODUKTNAH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7C9E01-3011-4666-8FB9-98A9700C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Pass-Rate · Issues · Regelabdeckung</a:t>
            </a:r>
          </a:p>
        </p:txBody>
      </p:sp>
    </p:spTree>
    <p:extLst>
      <p:ext uri="{BB962C8B-B14F-4D97-AF65-F5344CB8AC3E}">
        <p14:creationId xmlns:p14="http://schemas.microsoft.com/office/powerpoint/2010/main" val="18825218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5D1399-4944-48B8-8D30-17B4D1DA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CHECKION · CONTINUOUS QUALITY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6f1ec8cff46c0"/>
          <a:stretch xmlns:a="http://schemas.openxmlformats.org/drawingml/2006/main"/>
        </p:blipFill>
        <p:spPr>
          <a:xfrm xmlns:a="http://schemas.openxmlformats.org/drawingml/2006/main">
            <a:off x="11087572" y="257175"/>
            <a:ext cx="684855" cy="2762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94CA4-FAD9-45EB-AD4F-DC2A684A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865E2-0E82-4640-A4E9-3F83012D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74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Qualität endet nicht beim Launch.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E8BA4-A556-4F1F-97C6-DAA6A8F6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CHECKION macht Website-Qualität wiederholbar messbar – vor dem Release, im Re-Run und über ganze Portfolios.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5B3C7-9799-4A20-A51D-408FCD9D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A55"/>
          </a:solidFill>
          <a:ln xmlns:a="http://schemas.openxmlformats.org/drawingml/2006/main" w="0">
            <a:solidFill>
              <a:srgbClr val="00CA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79382-F9DD-4ACC-8E76-A93E8B7F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SEO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9CB1F-9800-4CE3-A063-4A9BD5E1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5908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D7EFA-B6A8-4ADB-9B65-0D8D7488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4765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GEO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53E43-DAE8-4746-BBE9-6FBFCEF1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14D"/>
          </a:solidFill>
          <a:ln xmlns:a="http://schemas.openxmlformats.org/drawingml/2006/main" w="0">
            <a:solidFill>
              <a:srgbClr val="FEF1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6F634-0B35-4FC7-ADF5-A8E81A2B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CONTENT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C3AC2-1367-4121-930F-7F02E91D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143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B"/>
          </a:solidFill>
          <a:ln xmlns:a="http://schemas.openxmlformats.org/drawingml/2006/main" w="0">
            <a:solidFill>
              <a:srgbClr val="FF6A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9B3AF-959A-4651-A3FD-8EB391D4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0289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ACCESSIBILITY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0C6E8-90F7-48C8-AA9E-D02EBC2B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C98D5-D19D-4F24-B1FD-02F22A32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PERFORMANCE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B5772-4076-4FB6-99AA-040783DF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6957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FCF"/>
          </a:solidFill>
          <a:ln xmlns:a="http://schemas.openxmlformats.org/drawingml/2006/main" w="0">
            <a:solidFill>
              <a:srgbClr val="BDEF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7A231-0E97-4DB6-AE55-C863651B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5814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TECHNIK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B0C26-AA66-459E-AC03-6687A140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04900"/>
            <a:ext cx="61341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1953349f74c67"/>
          <a:srcRect xmlns:a="http://schemas.openxmlformats.org/drawingml/2006/main" l="0" t="1197" r="0" b="11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14950" y="1200150"/>
            <a:ext cx="5943600" cy="32004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20541E-0670-4756-9BF7-D488676C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4267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de63f59a0453f"/>
          <a:srcRect xmlns:a="http://schemas.openxmlformats.org/drawingml/2006/main" l="0" t="7647" r="0" b="7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4095750"/>
            <a:ext cx="4076700" cy="19050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699A13-B52F-4E05-AC0F-4634775E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43400"/>
            <a:ext cx="29908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b285d2acc4c42"/>
          <a:srcRect xmlns:a="http://schemas.openxmlformats.org/drawingml/2006/main" l="0" t="2525" r="0" b="25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4438650"/>
            <a:ext cx="2800350" cy="14668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C92E78-ED26-4617-8E07-D3D3E9EC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382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68686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B5E0A5-4F8B-4F47-A983-2287BD57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6A3B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F6A3B"/>
                </a:solidFill>
                <a:latin typeface="IBM Plex Mono"/>
                <a:ea typeface="IBM Plex Mono"/>
                <a:cs typeface="IBM Plex Mono"/>
              </a:rPr>
              <a:t>RELEASE GATE  ·  RE-RUN  ·  PORTFOLIO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A687F1-794D-40DA-8776-EC7119EA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97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Zeitsteuerung über PLEXON oder externe Trigger konfigurierbar. Native Pläne: Roadmap.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66A61A-BC93-43E0-A3AB-24166DCE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Produkt: Issues · Coverage · Pass-Rate     Pilot: Lösungszeit · Regressionen</a:t>
            </a:r>
          </a:p>
        </p:txBody>
      </p:sp>
    </p:spTree>
    <p:extLst>
      <p:ext uri="{BB962C8B-B14F-4D97-AF65-F5344CB8AC3E}">
        <p14:creationId xmlns:p14="http://schemas.microsoft.com/office/powerpoint/2010/main" val="20384075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06AA7D-B207-42F1-842D-2497A081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OFFENES ÖKOSYSTEM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be3258c744558"/>
          <a:stretch xmlns:a="http://schemas.openxmlformats.org/drawingml/2006/main"/>
        </p:blipFill>
        <p:spPr>
          <a:xfrm xmlns:a="http://schemas.openxmlformats.org/drawingml/2006/main">
            <a:off x="11087572" y="257175"/>
            <a:ext cx="684855" cy="2762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57203-8C7E-4404-876F-699D9FC4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86868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0">
                <a:solidFill>
                  <a:srgbClr val="686868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F8192-821B-49F1-8DA2-11CA2433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PLEXON arbeitet mit Ihrem Stack. Nicht gegen ihn.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27C2B-6DCD-4AF7-8780-81F86214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0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Neue Systeme werden über MCP, APIs oder Webhooks angebunden – mit Adapter, Berechtigung und Projektkonfiguration.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F43EF-78F0-4AEE-BF51-F32899BD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3D72A-1D4B-476B-AF99-6F0426B5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148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3C699-228A-4F4B-A237-30927237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626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2B2A4-E5B4-409B-B961-CE1F5EA8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67000"/>
            <a:ext cx="1657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5E58B-D495-4AA4-887D-3A19FB58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14800"/>
            <a:ext cx="1657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5D866-B5AB-4C5A-BBD8-EC740160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62600"/>
            <a:ext cx="1657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64A76-21E3-4AE0-9676-EA9C8F1B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956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4CCA9-D828-4C98-9CE7-8D5BAD61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290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PLEXON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35D1A-2709-4361-B517-4779431D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671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KONTEXT + FLOWS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70083-3D24-4736-B9E2-C54DC4C8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FCF"/>
          </a:solidFill>
          <a:ln xmlns:a="http://schemas.openxmlformats.org/drawingml/2006/main" w="0">
            <a:solidFill>
              <a:srgbClr val="BDEF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2B856-4B36-4CB7-AA59-0EBFAC77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MARKT / RESEARCH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14084-57C2-430B-ABCC-4E584F26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6868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825" b="1">
                <a:solidFill>
                  <a:srgbClr val="686868"/>
                </a:solidFill>
                <a:latin typeface="Noto Sans JP Light"/>
                <a:ea typeface="Noto Sans JP Light"/>
                <a:cs typeface="Noto Sans JP Light"/>
              </a:rPr>
              <a:t>Brandwatch · Qualtrics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4C994A-5E5E-40B3-BF81-8C4A7A21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C1"/>
          </a:solidFill>
          <a:ln xmlns:a="http://schemas.openxmlformats.org/drawingml/2006/main" w="0">
            <a:solidFill>
              <a:srgbClr val="FFD0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A8329C-3288-4FAF-8E1C-0D8A7A84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DESIGN / BRAND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EF0CF8-3E53-4E78-844B-3A9968DF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6868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825" b="1">
                <a:solidFill>
                  <a:srgbClr val="686868"/>
                </a:solidFill>
                <a:latin typeface="Noto Sans JP Light"/>
                <a:ea typeface="Noto Sans JP Light"/>
                <a:cs typeface="Noto Sans JP Light"/>
              </a:rPr>
              <a:t>Figma · Frontify · Bynder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EE329D-A7DD-4B88-B65C-B32106A3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AA"/>
          </a:solidFill>
          <a:ln xmlns:a="http://schemas.openxmlformats.org/drawingml/2006/main" w="0">
            <a:solidFill>
              <a:srgbClr val="FFF8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A5212A-2621-44A0-8EEC-573D649F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CMS / EXPERIENCE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1A58F6-9EE1-4FB3-8FF0-1EF24FA8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6868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825" b="1">
                <a:solidFill>
                  <a:srgbClr val="686868"/>
                </a:solidFill>
                <a:latin typeface="Noto Sans JP Light"/>
                <a:ea typeface="Noto Sans JP Light"/>
                <a:cs typeface="Noto Sans JP Light"/>
              </a:rPr>
              <a:t>Contentful · Storyblok · AEM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7506C4-6421-4EC3-AC15-AAB2B199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6695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FCF"/>
          </a:solidFill>
          <a:ln xmlns:a="http://schemas.openxmlformats.org/drawingml/2006/main" w="0">
            <a:solidFill>
              <a:srgbClr val="BDEF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65F2BD-66F8-45E5-B348-9C879AEC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ANALYTICS / QUALITY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535A01-A02B-4B6A-9073-4C26C504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6868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825" b="1">
                <a:solidFill>
                  <a:srgbClr val="686868"/>
                </a:solidFill>
                <a:latin typeface="Noto Sans JP Light"/>
                <a:ea typeface="Noto Sans JP Light"/>
                <a:cs typeface="Noto Sans JP Light"/>
              </a:rPr>
              <a:t>Search Console · Siteimprove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F42F01-E838-447C-BCE9-B4E7E921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1475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E7"/>
          </a:solidFill>
          <a:ln xmlns:a="http://schemas.openxmlformats.org/drawingml/2006/main" w="0">
            <a:solidFill>
              <a:srgbClr val="F8CB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291871-09DC-4F50-A73F-712057FA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4810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COLLABORATION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44F83F-12CF-4FC6-B02F-47C8AE4B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719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6868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825" b="1">
                <a:solidFill>
                  <a:srgbClr val="686868"/>
                </a:solidFill>
                <a:latin typeface="Noto Sans JP Light"/>
                <a:ea typeface="Noto Sans JP Light"/>
                <a:cs typeface="Noto Sans JP Light"/>
              </a:rPr>
              <a:t>SharePoint · Teams · Slack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478748-36BA-4DE0-9284-22D23298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16255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F56151-888B-4D72-B780-048F481F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9590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EIGENE SYSTEME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EE31D7-5985-4D32-99D1-CF2F2A19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197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6868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825" b="1">
                <a:solidFill>
                  <a:srgbClr val="686868"/>
                </a:solidFill>
                <a:latin typeface="Noto Sans JP Light"/>
                <a:ea typeface="Noto Sans JP Light"/>
                <a:cs typeface="Noto Sans JP Light"/>
              </a:rPr>
              <a:t>DWH · DAM · PIM · CRM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A32362-492C-40BA-9407-576E60F9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526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DATEN HINEIN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8EDD4C-09EE-40F5-AD30-2FBB93EF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530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CA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00CA55"/>
                </a:solidFill>
                <a:latin typeface="IBM Plex Mono"/>
                <a:ea typeface="IBM Plex Mono"/>
                <a:cs typeface="IBM Plex Mono"/>
              </a:rPr>
              <a:t>AKTIONEN HINAUS · ERKENNTNISSE ZURÜCK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AA6830-8D0C-4564-A935-9C1A72C3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6868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0">
                <a:solidFill>
                  <a:srgbClr val="686868"/>
                </a:solidFill>
                <a:latin typeface="IBM Plex Mono"/>
                <a:ea typeface="IBM Plex Mono"/>
                <a:cs typeface="IBM Plex Mono"/>
              </a:rPr>
              <a:t>Toolnamen sind Integrationsbeispiele, keine pauschale Zusage einer produktiven Standardintegration.</a:t>
            </a:r>
          </a:p>
        </p:txBody>
      </p:sp>
    </p:spTree>
    <p:extLst>
      <p:ext uri="{BB962C8B-B14F-4D97-AF65-F5344CB8AC3E}">
        <p14:creationId xmlns:p14="http://schemas.microsoft.com/office/powerpoint/2010/main" val="19900508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E1F319-E463-4831-B394-B5993A56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GOVERNANCE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0b8f1d30e4bb6"/>
          <a:stretch xmlns:a="http://schemas.openxmlformats.org/drawingml/2006/main"/>
        </p:blipFill>
        <p:spPr>
          <a:xfrm xmlns:a="http://schemas.openxmlformats.org/drawingml/2006/main">
            <a:off x="11087572" y="257175"/>
            <a:ext cx="684855" cy="2762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CD419-AF5E-47CB-8239-0408F160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2F6B5-79EF-4997-89F9-26D02D24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Mehr Autonomie braucht bessere Nachvollziehbarkeit.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AA901-43E3-4D60-90D3-8C77EB7E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Jede belastbare Entscheidung braucht Herkunft, Einordnung, Verantwortlichkeit und einen sichtbaren Verlauf.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AB57F-E0BB-40B6-B4C1-4FF60F55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6A9DD-53D2-47EC-9597-9114B080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676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ABB91-4C55-4D2F-BBC3-9CE0A6D0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FE4CC-1139-4FD0-B0F7-AAD2AE39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QUELLE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F7D13-DA2E-447E-8715-0736668C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Herkunft</a:t>
            </a:r>
          </a:p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+ Aktualität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B346E-05C6-4360-960B-02BFF458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86050"/>
            <a:ext cx="1676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98E26-E935-47FC-A64B-A7F78A23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AA6C1-8A14-4A5B-94D1-49E458B1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051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EINORDNUNG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46F83-00ED-4B41-B9EE-944C396C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909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Fakt oder</a:t>
            </a:r>
          </a:p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3F200-2D7D-423C-8BF4-030BA2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86050"/>
            <a:ext cx="1676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14D"/>
          </a:solidFill>
          <a:ln xmlns:a="http://schemas.openxmlformats.org/drawingml/2006/main" w="0">
            <a:solidFill>
              <a:srgbClr val="FEF1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7C213B-C1D4-4DEC-8AF2-C11FC5B5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003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8FDFBC-78CE-4010-8119-B6EB9A0E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051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SIMULATION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BE2E3-0227-4135-80D4-20FE9117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909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Hypothese oder</a:t>
            </a:r>
          </a:p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Persona-Sicht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F5918F-D18A-401A-AED5-1B088983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86050"/>
            <a:ext cx="1676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A55"/>
          </a:solidFill>
          <a:ln xmlns:a="http://schemas.openxmlformats.org/drawingml/2006/main" w="0">
            <a:solidFill>
              <a:srgbClr val="00CA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8D6BD-EAF4-491C-838C-E9079DC3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94E914-CFC9-4D03-9FE0-BE827246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FREIGABE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2FF2BA-CCE6-400B-86AD-454EDC9A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Rolle · Gate</a:t>
            </a:r>
          </a:p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Entscheidung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079367-1F0A-4080-A37A-07B5B79B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86050"/>
            <a:ext cx="1676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B"/>
          </a:solidFill>
          <a:ln xmlns:a="http://schemas.openxmlformats.org/drawingml/2006/main" w="0">
            <a:solidFill>
              <a:srgbClr val="FF6A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5377A9-EE0D-4787-9035-771AE9A5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003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97445-FFC4-4B08-B9D6-6649A8B5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051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AUDIT TRAIL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ADD1B0-1873-4F3C-B6D7-8910DA29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909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Run · Ergebnis</a:t>
            </a:r>
          </a:p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Version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B1B171-6699-4FDE-9AFE-816F63F1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1277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6868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BF5492-11AE-4595-9E14-D88E314C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KLARE GRENZEN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C2EC29-B2D8-42A7-BD2F-39EBF305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Modellantwort ≠ Fakt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9EB0C9-F788-43FA-ADD7-99C1C962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673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Persona ≠ empirischer Nachweis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6EC1E6-AF50-4C8A-ABE3-67D97D13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673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Automation ≠ unbeschränkte Autonomie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9D4FA8-3D06-412B-AAEF-52D098C8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Rollen · Freigaben · Quellenstatus · Statuskennzeichnung · Run-Historie</a:t>
            </a:r>
          </a:p>
        </p:txBody>
      </p:sp>
    </p:spTree>
    <p:extLst>
      <p:ext uri="{BB962C8B-B14F-4D97-AF65-F5344CB8AC3E}">
        <p14:creationId xmlns:p14="http://schemas.microsoft.com/office/powerpoint/2010/main" val="1378741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56B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CCCACC-C5EC-464C-8B7B-95B00CE8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WIRKUNG + KPIS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f6e431ebf47b0"/>
          <a:stretch xmlns:a="http://schemas.openxmlformats.org/drawingml/2006/main"/>
        </p:blipFill>
        <p:spPr>
          <a:xfrm xmlns:a="http://schemas.openxmlformats.org/drawingml/2006/main">
            <a:off x="11087572" y="257175"/>
            <a:ext cx="684855" cy="2762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4B869-CF2D-44CD-8FE2-FAC3F121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86868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0">
                <a:solidFill>
                  <a:srgbClr val="686868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BA928-9B73-4903-BC5F-1B0D6BEB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7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Was kontinuierlich lernt, muss kontinuierlich messbar sein.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4ACE3-D88E-40C5-B8EB-46CC049B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00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Produkt-KPIs zeigen Leistung. Pilot-KPIs zeigen den gewünschten Business-Effekt.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02C72-37BB-427F-8F55-FAE5B98A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11277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98675-1CF6-4CBF-A411-BA1F3845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SCHNELLER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ENTSCHEIDEN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D7E5C-4DC7-435C-AAF8-DFE14DE5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PRODUKT-KPI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6C245-6257-4089-8E66-9A771E38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Signal → Research Brief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DB977-C97A-47F1-8004-CFC4CE9F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CA55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00CA55"/>
                </a:solidFill>
                <a:latin typeface="IBM Plex Mono"/>
                <a:ea typeface="IBM Plex Mono"/>
                <a:cs typeface="IBM Plex Mono"/>
              </a:rPr>
              <a:t>PILOT-KPI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4D032-CC53-4F78-804C-27A3D405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336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Time-to-Insight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C53C9-A9BB-4088-A896-616363D2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11277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14D"/>
          </a:solidFill>
          <a:ln xmlns:a="http://schemas.openxmlformats.org/drawingml/2006/main" w="0">
            <a:solidFill>
              <a:srgbClr val="FEF1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1789D-55DB-4CDF-84E2-729FE63E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RELEVANTER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GESTALTEN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C1817-9D3B-4394-9712-450FAA6A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623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6868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686868"/>
                </a:solidFill>
                <a:latin typeface="IBM Plex Mono"/>
                <a:ea typeface="IBM Plex Mono"/>
                <a:cs typeface="IBM Plex Mono"/>
              </a:rPr>
              <a:t>PRODUKT-KPI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159CF-548E-4990-9979-109BEE5C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Evidence Coverage · Persona-Feedback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900C5-2DD1-4E68-99FD-85DCAC7B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6868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686868"/>
                </a:solidFill>
                <a:latin typeface="IBM Plex Mono"/>
                <a:ea typeface="IBM Plex Mono"/>
                <a:cs typeface="IBM Plex Mono"/>
              </a:rPr>
              <a:t>PILOT-KPI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2744F-D255-43D8-8C8A-4480BE07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Validierungszeit · späte Änderungen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10580-3FE5-47D3-837B-BBE0F64B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11277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9DDBC3-DAC8-4362-A871-3067299D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SICHERER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AUSSPIELEN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23369-C018-46C1-94FC-369590F8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6868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686868"/>
                </a:solidFill>
                <a:latin typeface="IBM Plex Mono"/>
                <a:ea typeface="IBM Plex Mono"/>
                <a:cs typeface="IBM Plex Mono"/>
              </a:rPr>
              <a:t>PRODUKT-KPI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CEB99-E821-4095-A4E8-FD75349E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24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Pass-Rate · Issues · Coverage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4BFDD5-312A-4E7E-98DC-93074B1B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6868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686868"/>
                </a:solidFill>
                <a:latin typeface="IBM Plex Mono"/>
                <a:ea typeface="IBM Plex Mono"/>
                <a:cs typeface="IBM Plex Mono"/>
              </a:rPr>
              <a:t>PILOT-KPI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2D8ED6-A369-48AC-AD4D-785D5A69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244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125" b="1">
                <a:solidFill>
                  <a:srgbClr val="111111"/>
                </a:solidFill>
                <a:latin typeface="Noto Sans JP Light"/>
                <a:ea typeface="Noto Sans JP Light"/>
                <a:cs typeface="Noto Sans JP Light"/>
              </a:rPr>
              <a:t>Freigabedauer · Regressionen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8983F3-7D0E-4915-B072-7D783DFD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Zielkorridore werden nach der Baseline im Pilot festgelegt – nicht vorher behauptet.</a:t>
            </a:r>
          </a:p>
        </p:txBody>
      </p:sp>
    </p:spTree>
    <p:extLst>
      <p:ext uri="{BB962C8B-B14F-4D97-AF65-F5344CB8AC3E}">
        <p14:creationId xmlns:p14="http://schemas.microsoft.com/office/powerpoint/2010/main" val="16095841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898fb658f458c"/>
          <a:stretch xmlns:a="http://schemas.openxmlformats.org/drawingml/2006/main"/>
        </p:blipFill>
        <p:spPr>
          <a:xfrm xmlns:a="http://schemas.openxmlformats.org/drawingml/2006/main">
            <a:off x="11087572" y="257175"/>
            <a:ext cx="684855" cy="2762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50605-0117-46CB-AD02-A67D0474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EINSTIEG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1BC9E-E349-4C48-8BE4-6EC1BB77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7429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Nicht mit allen Tools starten.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Mit einem echten Prozess.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040B0-765B-45A3-8CE8-08D99397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275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Ein Pilot macht Wert, Grenzen und Erweiterungsbedarf sichtbar – bevor skaliert wird.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CE293-9605-4D03-9DC1-6963A002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933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DDD3C-C358-4BF4-8DD1-47EBB6D9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2057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6B6"/>
          </a:solidFill>
          <a:ln xmlns:a="http://schemas.openxmlformats.org/drawingml/2006/main" w="0">
            <a:solidFill>
              <a:srgbClr val="F256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D11F4-3241-48FF-9953-3638B40E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A2167-3651-439B-AB1D-CA4C7063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ECHTER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PROZESS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B05E5-39B4-416C-B43D-EB516DE1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Eine relevante Frage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B9E9D-6614-4787-BC43-4E2660F1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29000"/>
            <a:ext cx="2057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14D"/>
          </a:solidFill>
          <a:ln xmlns:a="http://schemas.openxmlformats.org/drawingml/2006/main" w="0">
            <a:solidFill>
              <a:srgbClr val="FEF1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B9407-A317-4C11-8BAF-458CDB41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623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B16C9-8515-4AEE-A197-AAFA812F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67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BASELINE +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ZIELKORRIDOR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DFFF9-91DD-48F4-959D-EE64A73F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386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Messbar starten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CB9BC-B702-4ECF-8E85-24B0B622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29000"/>
            <a:ext cx="2057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A55"/>
          </a:solidFill>
          <a:ln xmlns:a="http://schemas.openxmlformats.org/drawingml/2006/main" w="0">
            <a:solidFill>
              <a:srgbClr val="00CA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329F8-1642-46E7-9BE6-FE39C774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623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6CCDC-6AED-4422-B298-7F6259F4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67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MESSBARER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303CD-1A8D-43F2-8689-2D875E3F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386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Loop im Alltag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E7D06-BE7A-441E-ABD1-33B5C2B9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29000"/>
            <a:ext cx="2057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B"/>
          </a:solidFill>
          <a:ln xmlns:a="http://schemas.openxmlformats.org/drawingml/2006/main" w="0">
            <a:solidFill>
              <a:srgbClr val="FF6A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2DFCE-7A3E-493C-9224-C972AC27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623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80B89-A6C9-41DC-8A98-8767ACCA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67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SKALIEREN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ODER STOPPEN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C498B-73D6-4CF9-8E0B-1D5115AB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386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111111"/>
                </a:solidFill>
                <a:latin typeface="IBM Plex Mono"/>
                <a:ea typeface="IBM Plex Mono"/>
                <a:cs typeface="IBM Plex Mono"/>
              </a:rPr>
              <a:t>Evidenz statt Hype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F8D82B-5590-41BE-B934-EC994110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Welchen Prozess nehmen wir zuerst?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FB48F7-643C-4981-99D7-DAADA80F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PLEXON AI Suite · MSQ DX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05AAEC-768B-49C2-840C-3E18C899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675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48705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2026-08-26T05:58:03.8110000Z</dcterms:created>
  <dcterms:modified xsi:type="dcterms:W3CDTF">2026-08-26T05:58:03.8110000Z</dcterms:modified>
</coreProperties>
</file>