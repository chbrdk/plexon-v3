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e5c1168e4844fb" /><Relationship Type="http://schemas.openxmlformats.org/officeDocument/2006/relationships/extended-properties" Target="/docProps/app.xml" Id="R41a3aef5a3c04c91" /><Relationship Type="http://schemas.openxmlformats.org/officeDocument/2006/relationships/officeDocument" Target="/ppt/presentation.xml" Id="Rb66e5cc2f7ee40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fb86ffd06a424f"/>
  </p:sldMasterIdLst>
  <p:notesMasterIdLst>
    <p:notesMasterId xmlns:r="http://schemas.openxmlformats.org/officeDocument/2006/relationships" r:id="Rdd7fe19ce2b643d4"/>
  </p:notesMasterIdLst>
  <p:sldIdLst>
    <p:sldId xmlns:r="http://schemas.openxmlformats.org/officeDocument/2006/relationships" id="256" r:id="Reaf062d16faf4ec4"/>
    <p:sldId xmlns:r="http://schemas.openxmlformats.org/officeDocument/2006/relationships" id="257" r:id="Rf3acfc19195d4f02"/>
    <p:sldId xmlns:r="http://schemas.openxmlformats.org/officeDocument/2006/relationships" id="258" r:id="Re2f9e93260134deb"/>
    <p:sldId xmlns:r="http://schemas.openxmlformats.org/officeDocument/2006/relationships" id="259" r:id="R119eab6e10124ab1"/>
    <p:sldId xmlns:r="http://schemas.openxmlformats.org/officeDocument/2006/relationships" id="260" r:id="R461a436aaf9c4c88"/>
    <p:sldId xmlns:r="http://schemas.openxmlformats.org/officeDocument/2006/relationships" id="261" r:id="R694955ba2dd544ec"/>
    <p:sldId xmlns:r="http://schemas.openxmlformats.org/officeDocument/2006/relationships" id="262" r:id="R028edfa4585a4c81"/>
    <p:sldId xmlns:r="http://schemas.openxmlformats.org/officeDocument/2006/relationships" id="263" r:id="Rc1882fecd0b54ce4"/>
    <p:sldId xmlns:r="http://schemas.openxmlformats.org/officeDocument/2006/relationships" id="264" r:id="R8bacdb1a8dc64f31"/>
    <p:sldId xmlns:r="http://schemas.openxmlformats.org/officeDocument/2006/relationships" id="265" r:id="R1f1a10b76b704705"/>
    <p:sldId xmlns:r="http://schemas.openxmlformats.org/officeDocument/2006/relationships" id="266" r:id="R1c1c6f52339d4aa4"/>
    <p:sldId xmlns:r="http://schemas.openxmlformats.org/officeDocument/2006/relationships" id="267" r:id="Rad6db670d5a342c4"/>
    <p:sldId xmlns:r="http://schemas.openxmlformats.org/officeDocument/2006/relationships" id="268" r:id="Re6ccd3a6b91b49d5"/>
    <p:sldId xmlns:r="http://schemas.openxmlformats.org/officeDocument/2006/relationships" id="269" r:id="Rd3a5c85bdc8b46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225cffff824952" /><Relationship Type="http://schemas.openxmlformats.org/officeDocument/2006/relationships/slideMaster" Target="/ppt/slideMasters/slideMaster1.xml" Id="R45fb86ffd06a424f" /><Relationship Type="http://schemas.openxmlformats.org/officeDocument/2006/relationships/notesMaster" Target="/ppt/notesMasters/notesMaster1.xml" Id="Rdd7fe19ce2b643d4" /><Relationship Type="http://schemas.openxmlformats.org/officeDocument/2006/relationships/presProps" Target="/ppt/presProps.xml" Id="R520f0855f7444a63" /><Relationship Type="http://schemas.openxmlformats.org/officeDocument/2006/relationships/tableStyles" Target="/ppt/tableStyles.xml" Id="R72a8ef1bf7214d14" /><Relationship Type="http://schemas.openxmlformats.org/officeDocument/2006/relationships/slide" Target="/ppt/slides/slide1.xml" Id="Reaf062d16faf4ec4" /><Relationship Type="http://schemas.openxmlformats.org/officeDocument/2006/relationships/slide" Target="/ppt/slides/slide2.xml" Id="Rf3acfc19195d4f02" /><Relationship Type="http://schemas.openxmlformats.org/officeDocument/2006/relationships/slide" Target="/ppt/slides/slide3.xml" Id="Re2f9e93260134deb" /><Relationship Type="http://schemas.openxmlformats.org/officeDocument/2006/relationships/slide" Target="/ppt/slides/slide4.xml" Id="R119eab6e10124ab1" /><Relationship Type="http://schemas.openxmlformats.org/officeDocument/2006/relationships/slide" Target="/ppt/slides/slide5.xml" Id="R461a436aaf9c4c88" /><Relationship Type="http://schemas.openxmlformats.org/officeDocument/2006/relationships/slide" Target="/ppt/slides/slide6.xml" Id="R694955ba2dd544ec" /><Relationship Type="http://schemas.openxmlformats.org/officeDocument/2006/relationships/slide" Target="/ppt/slides/slide7.xml" Id="R028edfa4585a4c81" /><Relationship Type="http://schemas.openxmlformats.org/officeDocument/2006/relationships/slide" Target="/ppt/slides/slide8.xml" Id="Rc1882fecd0b54ce4" /><Relationship Type="http://schemas.openxmlformats.org/officeDocument/2006/relationships/slide" Target="/ppt/slides/slide9.xml" Id="R8bacdb1a8dc64f31" /><Relationship Type="http://schemas.openxmlformats.org/officeDocument/2006/relationships/slide" Target="/ppt/slides/slide10.xml" Id="R1f1a10b76b704705" /><Relationship Type="http://schemas.openxmlformats.org/officeDocument/2006/relationships/slide" Target="/ppt/slides/slide11.xml" Id="R1c1c6f52339d4aa4" /><Relationship Type="http://schemas.openxmlformats.org/officeDocument/2006/relationships/slide" Target="/ppt/slides/slide12.xml" Id="Rad6db670d5a342c4" /><Relationship Type="http://schemas.openxmlformats.org/officeDocument/2006/relationships/slide" Target="/ppt/slides/slide13.xml" Id="Re6ccd3a6b91b49d5" /><Relationship Type="http://schemas.openxmlformats.org/officeDocument/2006/relationships/slide" Target="/ppt/slides/slide14.xml" Id="Rd3a5c85bdc8b46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9fc8d8ad8141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37faa7ab024f9c" /><Relationship Type="http://schemas.openxmlformats.org/officeDocument/2006/relationships/notesMaster" Target="/ppt/notesMasters/notesMaster1.xml" Id="R382b553038454e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670696355e49ab" /><Relationship Type="http://schemas.openxmlformats.org/officeDocument/2006/relationships/notesMaster" Target="/ppt/notesMasters/notesMaster1.xml" Id="R2e89da30bc6441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3415cae3304f9f" /><Relationship Type="http://schemas.openxmlformats.org/officeDocument/2006/relationships/notesMaster" Target="/ppt/notesMasters/notesMaster1.xml" Id="R3260e1b2d5014b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8dfe07611345ed" /><Relationship Type="http://schemas.openxmlformats.org/officeDocument/2006/relationships/notesMaster" Target="/ppt/notesMasters/notesMaster1.xml" Id="Rdae8eee0bb3746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68425d48624df9" /><Relationship Type="http://schemas.openxmlformats.org/officeDocument/2006/relationships/notesMaster" Target="/ppt/notesMasters/notesMaster1.xml" Id="Rbc6a93a7e7ab43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e2e35c3ce04fdd" /><Relationship Type="http://schemas.openxmlformats.org/officeDocument/2006/relationships/notesMaster" Target="/ppt/notesMasters/notesMaster1.xml" Id="R7dc2be98b6c14a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dae3d75f4f41e7" /><Relationship Type="http://schemas.openxmlformats.org/officeDocument/2006/relationships/notesMaster" Target="/ppt/notesMasters/notesMaster1.xml" Id="Rba6ce870b9704c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12335d945346b9" /><Relationship Type="http://schemas.openxmlformats.org/officeDocument/2006/relationships/notesMaster" Target="/ppt/notesMasters/notesMaster1.xml" Id="R4c470117baca40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336e0e83de4223" /><Relationship Type="http://schemas.openxmlformats.org/officeDocument/2006/relationships/notesMaster" Target="/ppt/notesMasters/notesMaster1.xml" Id="R79ff88717cf54b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353e0de9534388" /><Relationship Type="http://schemas.openxmlformats.org/officeDocument/2006/relationships/notesMaster" Target="/ppt/notesMasters/notesMaster1.xml" Id="Ra1c79dd984cf49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f6105859c042a9" /><Relationship Type="http://schemas.openxmlformats.org/officeDocument/2006/relationships/notesMaster" Target="/ppt/notesMasters/notesMaster1.xml" Id="Rb5900894ce5945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000910996c4eca" /><Relationship Type="http://schemas.openxmlformats.org/officeDocument/2006/relationships/notesMaster" Target="/ppt/notesMasters/notesMaster1.xml" Id="R86542629126844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3437083e374748" /><Relationship Type="http://schemas.openxmlformats.org/officeDocument/2006/relationships/notesMaster" Target="/ppt/notesMasters/notesMaster1.xml" Id="R2dd36cf6d37a4f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7eafa1405947d9" /><Relationship Type="http://schemas.openxmlformats.org/officeDocument/2006/relationships/notesMaster" Target="/ppt/notesMasters/notesMaster1.xml" Id="Re5507097ded945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PLEXON nicht als Tool-Sammlung eröffnen, sondern als zusammenhängende Entscheidungskette.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/Users/christoph.bordeck/Desktop/GITHUB/plexon-v3/knowledge/plexon-ecosystem-pptx.md</a:t>
            </a:r>
          </a:p>
          <a:p xmlns:a="http://schemas.openxmlformats.org/drawingml/2006/main">
            <a:r>
              <a:t>- /Users/christoph.bordeck/Desktop/GITHUB/plexon-v3/specs/domain/collection-projects.md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Spannung aufbauen: Das Problem ist nicht fehlende AI, sondern fehlender Zusammenhang.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/Users/christoph.bordeck/Desktop/GITHUB/plexon-v3/specs/domain/collection-knowledge-pack.md</a:t>
            </a:r>
          </a:p>
          <a:p xmlns:a="http://schemas.openxmlformats.org/drawingml/2006/main">
            <a:r>
              <a:t>- /Users/christoph.bordeck/Desktop/GITHUB/plexon-v3/knowledge/platform-surface-ownership.md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Apps über ihre Kernfrage erklären, nicht über technische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/Users/christoph.bordeck/Desktop/GITHUB/plexon-v3/knowledge/plexon-ecosystem-pptx.md</a:t>
            </a:r>
          </a:p>
          <a:p xmlns:a="http://schemas.openxmlformats.org/drawingml/2006/main">
            <a:r>
              <a:t>- /Users/christoph.bordeck/Desktop/GITHUB/plexon-v3/specs/domain/capability-catalog.md</a:t>
            </a:r>
          </a:p>
          <a:p xmlns:a="http://schemas.openxmlformats.org/drawingml/2006/main">
            <a:r>
              <a:t>- /Users/christoph.bordeck/Desktop/GITHUB/plexon-v3/knowledge/plexon-assistant-orchestrator.md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/Users/christoph.bordeck/Desktop/GITHUB/plexon-v3/specs/domain/collection-projects.md</a:t>
            </a:r>
          </a:p>
          <a:p xmlns:a="http://schemas.openxmlformats.org/drawingml/2006/main">
            <a:r>
              <a:t>- /Users/christoph.bordeck/Desktop/GITHUB/plexon-v3/specs/domain/collection-knowledge-pack.md</a:t>
            </a:r>
          </a:p>
          <a:p xmlns:a="http://schemas.openxmlformats.org/drawingml/2006/main">
            <a:r>
              <a:t>- /Users/christoph.bordeck/Desktop/GITHUB/plexon-v3/specs/domain/capability-catalog.md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/Users/christoph.bordeck/Desktop/GITHUB/plexon-v3/specs/domain/assistant-echon-mcp.md</a:t>
            </a:r>
          </a:p>
          <a:p xmlns:a="http://schemas.openxmlformats.org/drawingml/2006/main">
            <a:r>
              <a:t>- /Users/christoph.bordeck/Desktop/GITHUB/echon-v3/knowledge/research/agent-v1.md</a:t>
            </a:r>
          </a:p>
          <a:p xmlns:a="http://schemas.openxmlformats.org/drawingml/2006/main">
            <a:r>
              <a:t>- /Users/christoph.bordeck/Desktop/GITHUB/echon-v3/knowledge/operations/wave-dynamics-extensions-roadmap.md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/Users/christoph.bordeck/Desktop/GITHUB/audion-v3/knowledge/project-knowledge-ux.md</a:t>
            </a:r>
          </a:p>
          <a:p xmlns:a="http://schemas.openxmlformats.org/drawingml/2006/main">
            <a:r>
              <a:t>- /Users/christoph.bordeck/Desktop/GITHUB/audion-v3/knowledge/ux-studies.md</a:t>
            </a:r>
          </a:p>
          <a:p xmlns:a="http://schemas.openxmlformats.org/drawingml/2006/main">
            <a:r>
              <a:t>- /Users/christoph.bordeck/Desktop/GITHUB/audion-v3/knowledge/agent-ux-quality-levers-2026-08-03.md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/Users/christoph.bordeck/Desktop/GITHUB/plexon-v3/knowledge/tutorials/articles/checkion-fuenf-pruefungen.md</a:t>
            </a:r>
          </a:p>
          <a:p xmlns:a="http://schemas.openxmlformats.org/drawingml/2006/main">
            <a:r>
              <a:t>- /Users/christoph.bordeck/Desktop/GITHUB/plexon-v3/specs/domain/capability-catalog.md</a:t>
            </a:r>
          </a:p>
          <a:p xmlns:a="http://schemas.openxmlformats.org/drawingml/2006/main">
            <a:r>
              <a:t>- /Users/christoph.bordeck/Desktop/GITHUB/plexon-v3/knowledge/plexon-event-quick-check-workflow.md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/Users/christoph.bordeck/Desktop/GITHUB/brandion-v3/specs/domain/guidelines-hub.md</a:t>
            </a:r>
          </a:p>
          <a:p xmlns:a="http://schemas.openxmlformats.org/drawingml/2006/main">
            <a:r>
              <a:t>- /Users/christoph.bordeck/Desktop/GITHUB/brandion-v3/specs/domain/analysis-runtime.md</a:t>
            </a:r>
          </a:p>
          <a:p xmlns:a="http://schemas.openxmlformats.org/drawingml/2006/main">
            <a:r>
              <a:t>- /Users/christoph.bordeck/Desktop/GITHUB/brandion-v3/specs/domain/design-tokens.md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/Users/christoph.bordeck/Desktop/GITHUB/creation-v3/specs/domain/scene-agent-editing.md</a:t>
            </a:r>
          </a:p>
          <a:p xmlns:a="http://schemas.openxmlformats.org/drawingml/2006/main">
            <a:r>
              <a:t>- /Users/christoph.bordeck/Desktop/GITHUB/creation-v3/specs/domain/brand-token-consume.md</a:t>
            </a:r>
          </a:p>
          <a:p xmlns:a="http://schemas.openxmlformats.org/drawingml/2006/main">
            <a:r>
              <a:t>- /Users/christoph.bordeck/Desktop/GITHUB/plexon-v3/specs/domain/assistant-creation-mcp.md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/Users/christoph.bordeck/Desktop/GITHUB/plexon-v3/specs/domain/collection-test-flow.md</a:t>
            </a:r>
          </a:p>
          <a:p xmlns:a="http://schemas.openxmlformats.org/drawingml/2006/main">
            <a:r>
              <a:t>- /Users/christoph.bordeck/Desktop/GITHUB/plexon-v3/specs/domain/capability-catalog.md</a:t>
            </a:r>
          </a:p>
          <a:p xmlns:a="http://schemas.openxmlformats.org/drawingml/2006/main">
            <a:r>
              <a:t>- /Users/christoph.bordeck/Desktop/GITHUB/plexon-v3/knowledge/collection-knowledge-sync.md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Agenturperspektive kundenfreundlich als bessere Zusammenarbeit formulieren.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/Users/christoph.bordeck/Desktop/GITHUB/plexon-v3/specs/domain/collection-projects.md</a:t>
            </a:r>
          </a:p>
          <a:p xmlns:a="http://schemas.openxmlformats.org/drawingml/2006/main">
            <a:r>
              <a:t>- /Users/christoph.bordeck/Desktop/GITHUB/plexon-v3/specs/domain/capability-catalog.md</a:t>
            </a:r>
          </a:p>
          <a:p xmlns:a="http://schemas.openxmlformats.org/drawingml/2006/main">
            <a:r>
              <a:t>- /Users/christoph.bordeck/Desktop/GITHUB/plexon-v3/knowledge/platform-surface-ownership.md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/Users/christoph.bordeck/Desktop/GITHUB/plexon-v3/specs/domain/capability-catalog.md</a:t>
            </a:r>
          </a:p>
          <a:p xmlns:a="http://schemas.openxmlformats.org/drawingml/2006/main">
            <a:r>
              <a:t>- /Users/christoph.bordeck/Desktop/GITHUB/plexon-v3/specs/domain/collection-knowledge-pack.md</a:t>
            </a:r>
          </a:p>
          <a:p xmlns:a="http://schemas.openxmlformats.org/drawingml/2006/main">
            <a:r>
              <a:t>- /Users/christoph.bordeck/Desktop/GITHUB/plexon-v3/knowledge/platform-surface-ownership.md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/Users/christoph.bordeck/Desktop/GITHUB/plexon-v3/specs/domain/collection-test-flow.md</a:t>
            </a:r>
          </a:p>
          <a:p xmlns:a="http://schemas.openxmlformats.org/drawingml/2006/main">
            <a:r>
              <a:t>- /Users/christoph.bordeck/Desktop/GITHUB/plexon-v3/knowledge/plexon-v3-ecosystem-deferrals.md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Nicht mit einer Danke-Folie enden, sondern mit einer konkreten Einladung zum 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/Users/christoph.bordeck/Desktop/GITHUB/plexon-v3/knowledge/plexon-ecosystem-pptx.md</a:t>
            </a:r>
          </a:p>
          <a:p xmlns:a="http://schemas.openxmlformats.org/drawingml/2006/main">
            <a:r>
              <a:t>- /Users/christoph.bordeck/Desktop/GITHUB/plexon-v3/specs/domain/collection-projects.md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6b9de2b184b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811b72a7f94730" /><Relationship Type="http://schemas.openxmlformats.org/officeDocument/2006/relationships/slideLayout" Target="/ppt/slideLayouts/slideLayout1.xml" Id="R6169ebd75e3f42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69ebd75e3f42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9cb3b42a54ef2" /><Relationship Type="http://schemas.openxmlformats.org/officeDocument/2006/relationships/image" Target="/ppt/media/image.png" Id="Ra5bcb01d557f4502" /><Relationship Type="http://schemas.openxmlformats.org/officeDocument/2006/relationships/notesSlide" Target="/ppt/notesSlides/notesSlide1.xml" Id="R65f4099060c542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9c5bf6e5e45a2" /><Relationship Type="http://schemas.openxmlformats.org/officeDocument/2006/relationships/image" Target="/ppt/media/image2.png" Id="Ra6fcc99f6e9f4529" /><Relationship Type="http://schemas.openxmlformats.org/officeDocument/2006/relationships/notesSlide" Target="/ppt/notesSlides/notesSlide2.xml" Id="R7b4921a9b53545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50d356d114fcb" /><Relationship Type="http://schemas.openxmlformats.org/officeDocument/2006/relationships/image" Target="/ppt/media/image3.png" Id="R460fb5cc126e44b8" /><Relationship Type="http://schemas.openxmlformats.org/officeDocument/2006/relationships/notesSlide" Target="/ppt/notesSlides/notesSlide3.xml" Id="R5dcb7d7fb56d4d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7be059e6b489c" /><Relationship Type="http://schemas.openxmlformats.org/officeDocument/2006/relationships/image" Target="/ppt/media/image4.png" Id="R53b47389bf1941e1" /><Relationship Type="http://schemas.openxmlformats.org/officeDocument/2006/relationships/notesSlide" Target="/ppt/notesSlides/notesSlide4.xml" Id="R9494276c959649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2d68d68594f3d" /><Relationship Type="http://schemas.openxmlformats.org/officeDocument/2006/relationships/image" Target="/ppt/media/image5.png" Id="R9bca45df79924202" /><Relationship Type="http://schemas.openxmlformats.org/officeDocument/2006/relationships/notesSlide" Target="/ppt/notesSlides/notesSlide5.xml" Id="R8de428a681a848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dd38ecb24425f" /><Relationship Type="http://schemas.openxmlformats.org/officeDocument/2006/relationships/image" Target="/ppt/media/image6.png" Id="Rf75a92620ae94370" /><Relationship Type="http://schemas.openxmlformats.org/officeDocument/2006/relationships/notesSlide" Target="/ppt/notesSlides/notesSlide6.xml" Id="R61f83a33046b4e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188dde8c540e5" /><Relationship Type="http://schemas.openxmlformats.org/officeDocument/2006/relationships/image" Target="/ppt/media/image7.png" Id="R2efc515dbf2b4b12" /><Relationship Type="http://schemas.openxmlformats.org/officeDocument/2006/relationships/notesSlide" Target="/ppt/notesSlides/notesSlide7.xml" Id="R11eb7829d7c84d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25cc50e5546d2" /><Relationship Type="http://schemas.openxmlformats.org/officeDocument/2006/relationships/image" Target="/ppt/media/image8.png" Id="R3289685735bc471f" /><Relationship Type="http://schemas.openxmlformats.org/officeDocument/2006/relationships/notesSlide" Target="/ppt/notesSlides/notesSlide8.xml" Id="R01e6516703e54a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72bba2fc54519" /><Relationship Type="http://schemas.openxmlformats.org/officeDocument/2006/relationships/image" Target="/ppt/media/image9.png" Id="Rdbfea4c096e64ea3" /><Relationship Type="http://schemas.openxmlformats.org/officeDocument/2006/relationships/notesSlide" Target="/ppt/notesSlides/notesSlide9.xml" Id="R9084734340dd4e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64f7fff8f43b8" /><Relationship Type="http://schemas.openxmlformats.org/officeDocument/2006/relationships/image" Target="/ppt/media/image10.png" Id="R12c8503031c746b2" /><Relationship Type="http://schemas.openxmlformats.org/officeDocument/2006/relationships/notesSlide" Target="/ppt/notesSlides/notesSlide10.xml" Id="Rf5502e60f22e43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d0dc2c5e04365" /><Relationship Type="http://schemas.openxmlformats.org/officeDocument/2006/relationships/image" Target="/ppt/media/image11.png" Id="R0001c6a58d624fcc" /><Relationship Type="http://schemas.openxmlformats.org/officeDocument/2006/relationships/notesSlide" Target="/ppt/notesSlides/notesSlide11.xml" Id="R466967bbff424d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6c32152fc4159" /><Relationship Type="http://schemas.openxmlformats.org/officeDocument/2006/relationships/image" Target="/ppt/media/image12.png" Id="R92780c815aa94c0a" /><Relationship Type="http://schemas.openxmlformats.org/officeDocument/2006/relationships/notesSlide" Target="/ppt/notesSlides/notesSlide12.xml" Id="R3d13b79557b140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93cf668b94f01" /><Relationship Type="http://schemas.openxmlformats.org/officeDocument/2006/relationships/image" Target="/ppt/media/image13.png" Id="Rc86283c7e49a46e9" /><Relationship Type="http://schemas.openxmlformats.org/officeDocument/2006/relationships/notesSlide" Target="/ppt/notesSlides/notesSlide13.xml" Id="Rdba0e3c5429549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d8dfb49d64141" /><Relationship Type="http://schemas.openxmlformats.org/officeDocument/2006/relationships/image" Target="/ppt/media/image14.png" Id="Rddb751f45090426c" /><Relationship Type="http://schemas.openxmlformats.org/officeDocument/2006/relationships/notesSlide" Target="/ppt/notesSlides/notesSlide14.xml" Id="R66a1f811b1b648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56B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cb01d557f4502"/>
          <a:stretch xmlns:a="http://schemas.openxmlformats.org/drawingml/2006/main"/>
        </p:blipFill>
        <p:spPr>
          <a:xfrm xmlns:a="http://schemas.openxmlformats.org/drawingml/2006/main">
            <a:off x="653210" y="361950"/>
            <a:ext cx="1322479" cy="5334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023E799-4449-425C-8496-A7FD75FA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64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PLEXON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AF4417F-D1B7-4E95-8515-E0223CDE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885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4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Die AI Suite für vernetzte</a:t>
            </a:r>
          </a:p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42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digitale Entscheidungen</a:t>
            </a:r>
          </a:p>
        </p:txBody>
      </p:sp>
      <p:sp>
        <p:nvSpPr>
          <p:cNvPr id="4" name="cover-lead">
            <a:extLst xmlns:a="http://schemas.openxmlformats.org/drawingml/2006/main">
              <a:ext uri="{FF2B5EF4-FFF2-40B4-BE49-F238E27FC236}">
                <a16:creationId xmlns:a16="http://schemas.microsoft.com/office/drawing/2014/main" id="{D5DEE670-A21E-43FB-9052-29AB4A0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9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Von Marktverständnis über Kreation bis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9185C-0C98-49FB-8FB1-862BF845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MSQ DX · 2026</a:t>
            </a:r>
          </a:p>
        </p:txBody>
      </p:sp>
    </p:spTree>
    <p:extLst>
      <p:ext uri="{BB962C8B-B14F-4D97-AF65-F5344CB8AC3E}">
        <p14:creationId xmlns:p14="http://schemas.microsoft.com/office/powerpoint/2010/main" val="1356455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2">
            <a:extLst xmlns:a="http://schemas.openxmlformats.org/drawingml/2006/main">
              <a:ext uri="{FF2B5EF4-FFF2-40B4-BE49-F238E27FC236}">
                <a16:creationId xmlns:a16="http://schemas.microsoft.com/office/drawing/2014/main" id="{2EF8616E-2C92-485E-A130-68C1F950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AUSGANGSLAGE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0338D5E-F0F3-4650-B5F7-4A9BD5C2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779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Mehr Tools schaffen noch keine gemeinsame Wahrheit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cc99f6e9f4529"/>
          <a:stretch xmlns:a="http://schemas.openxmlformats.org/drawingml/2006/main"/>
        </p:blipFill>
        <p:spPr>
          <a:xfrm xmlns:a="http://schemas.openxmlformats.org/drawingml/2006/main">
            <a:off x="10353832" y="209550"/>
            <a:ext cx="1180785" cy="476250"/>
          </a:xfrm>
          <a:prstGeom xmlns:a="http://schemas.openxmlformats.org/drawingml/2006/main" prst="rect">
            <a:avLst/>
          </a:prstGeom>
        </p:spPr>
      </p:pic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330221A4-D816-4151-A177-D04FE191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5" name="problem-statement">
            <a:extLst xmlns:a="http://schemas.openxmlformats.org/drawingml/2006/main">
              <a:ext uri="{FF2B5EF4-FFF2-40B4-BE49-F238E27FC236}">
                <a16:creationId xmlns:a16="http://schemas.microsoft.com/office/drawing/2014/main" id="{C2693334-5B55-470B-9D2B-D83333EA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667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Wissen liegt in Studien.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Qualität in Audits.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Marke in Handbüchern.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Kreation in Einzeltools.</a:t>
            </a:r>
          </a:p>
        </p:txBody>
      </p:sp>
      <p:sp>
        <p:nvSpPr>
          <p:cNvPr id="6" name="problem-highlight">
            <a:extLst xmlns:a="http://schemas.openxmlformats.org/drawingml/2006/main">
              <a:ext uri="{FF2B5EF4-FFF2-40B4-BE49-F238E27FC236}">
                <a16:creationId xmlns:a16="http://schemas.microsoft.com/office/drawing/2014/main" id="{30CE3973-40F1-4EBA-B371-22E44AEC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895600" cy="28956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25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33375-69B9-4606-94EC-FDF2084C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defRPr>
            </a:pPr>
            <a:r>
              <a:rPr sz="1500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Die Lücke</a:t>
            </a:r>
          </a:p>
        </p:txBody>
      </p:sp>
      <p:sp>
        <p:nvSpPr>
          <p:cNvPr id="8" name="problem-highlight-text">
            <a:extLst xmlns:a="http://schemas.openxmlformats.org/drawingml/2006/main">
              <a:ext uri="{FF2B5EF4-FFF2-40B4-BE49-F238E27FC236}">
                <a16:creationId xmlns:a16="http://schemas.microsoft.com/office/drawing/2014/main" id="{C74A40E2-0EC2-40EA-B6A3-F7587DDA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95575"/>
            <a:ext cx="2152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63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Kontext geht an jedem Übergang verloren.</a:t>
            </a:r>
          </a:p>
        </p:txBody>
      </p:sp>
      <p:sp>
        <p:nvSpPr>
          <p:cNvPr id="9" name="problem-resolution">
            <a:extLst xmlns:a="http://schemas.openxmlformats.org/drawingml/2006/main">
              <a:ext uri="{FF2B5EF4-FFF2-40B4-BE49-F238E27FC236}">
                <a16:creationId xmlns:a16="http://schemas.microsoft.com/office/drawing/2014/main" id="{AEC2F7C0-DEE7-4DD2-BBE9-5E2B1A0E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9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AE8E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950" b="0">
                <a:solidFill>
                  <a:srgbClr val="EAE8E8"/>
                </a:solidFill>
                <a:latin typeface="Noto Sans JP Light"/>
                <a:ea typeface="Noto Sans JP Light"/>
                <a:cs typeface="Noto Sans JP Light"/>
              </a:rPr>
              <a:t>PLEXON verbindet Fachwissen, spezialisierte AI Apps und nachvollziehbare Entscheidungen.</a:t>
            </a:r>
          </a:p>
        </p:txBody>
      </p:sp>
    </p:spTree>
    <p:extLst>
      <p:ext uri="{BB962C8B-B14F-4D97-AF65-F5344CB8AC3E}">
        <p14:creationId xmlns:p14="http://schemas.microsoft.com/office/powerpoint/2010/main" val="1124571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3">
            <a:extLst xmlns:a="http://schemas.openxmlformats.org/drawingml/2006/main">
              <a:ext uri="{FF2B5EF4-FFF2-40B4-BE49-F238E27FC236}">
                <a16:creationId xmlns:a16="http://schemas.microsoft.com/office/drawing/2014/main" id="{363BA2B5-4CC4-4296-AEFB-A59A96E1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ÖKOSYSTEM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65FEE7D-5831-4984-8FB0-82C39137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08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PLEXON verbindet fünf Spezialisten zu einem Arbeitskreislauf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fb5cc126e44b8"/>
          <a:stretch xmlns:a="http://schemas.openxmlformats.org/drawingml/2006/main"/>
        </p:blipFill>
        <p:spPr>
          <a:xfrm xmlns:a="http://schemas.openxmlformats.org/drawingml/2006/main">
            <a:off x="10353832" y="209550"/>
            <a:ext cx="1180785" cy="476250"/>
          </a:xfrm>
          <a:prstGeom xmlns:a="http://schemas.openxmlformats.org/drawingml/2006/main" prst="rect">
            <a:avLst/>
          </a:prstGeom>
        </p:spPr>
      </p:pic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0052FF0D-8A09-40A0-B572-21497924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5" name="ecosystem-plexon">
            <a:extLst xmlns:a="http://schemas.openxmlformats.org/drawingml/2006/main">
              <a:ext uri="{FF2B5EF4-FFF2-40B4-BE49-F238E27FC236}">
                <a16:creationId xmlns:a16="http://schemas.microsoft.com/office/drawing/2014/main" id="{4462A91B-B6E1-48A9-92E9-B990F0CD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71725"/>
            <a:ext cx="2571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4D47B-2952-4BCA-8EF6-3BCFCD16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527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PLEXON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4FC98-0F06-414F-9474-81487316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3528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35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Kontext · Assistant · Flows</a:t>
            </a:r>
          </a:p>
        </p:txBody>
      </p:sp>
      <p:sp>
        <p:nvSpPr>
          <p:cNvPr id="8" name="app-echon">
            <a:extLst xmlns:a="http://schemas.openxmlformats.org/drawingml/2006/main">
              <a:ext uri="{FF2B5EF4-FFF2-40B4-BE49-F238E27FC236}">
                <a16:creationId xmlns:a16="http://schemas.microsoft.com/office/drawing/2014/main" id="{A81FC9D4-8336-4D63-8E5D-4B98616B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BFF3C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89776-D746-4A44-9367-0E556301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ECHON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D754E-F764-4DBC-8DFE-622F89EB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Markt &amp; Signale</a:t>
            </a:r>
          </a:p>
        </p:txBody>
      </p:sp>
      <p:sp>
        <p:nvSpPr>
          <p:cNvPr id="11" name="app-audion">
            <a:extLst xmlns:a="http://schemas.openxmlformats.org/drawingml/2006/main">
              <a:ext uri="{FF2B5EF4-FFF2-40B4-BE49-F238E27FC236}">
                <a16:creationId xmlns:a16="http://schemas.microsoft.com/office/drawing/2014/main" id="{AFE010B9-9591-40B4-BE4F-B788844A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D0EE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20769-BAAF-4F42-BA60-5F1D8606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AUDION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A6F82-F6E9-4FE4-86DA-C0C37634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243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Zielgruppen &amp; Verhalten</a:t>
            </a:r>
          </a:p>
        </p:txBody>
      </p:sp>
      <p:sp>
        <p:nvSpPr>
          <p:cNvPr id="14" name="app-creation">
            <a:extLst xmlns:a="http://schemas.openxmlformats.org/drawingml/2006/main">
              <a:ext uri="{FF2B5EF4-FFF2-40B4-BE49-F238E27FC236}">
                <a16:creationId xmlns:a16="http://schemas.microsoft.com/office/drawing/2014/main" id="{AE012A01-6050-4FD5-A38A-944DA2FF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76350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BB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1FFF7-3A84-4CD6-8311-C468321D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859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CREATION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E718F-11C3-4C0F-8942-1261BEAA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145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Kreation &amp; Anwendung</a:t>
            </a:r>
          </a:p>
        </p:txBody>
      </p:sp>
      <p:sp>
        <p:nvSpPr>
          <p:cNvPr id="17" name="app-brandion">
            <a:extLst xmlns:a="http://schemas.openxmlformats.org/drawingml/2006/main">
              <a:ext uri="{FF2B5EF4-FFF2-40B4-BE49-F238E27FC236}">
                <a16:creationId xmlns:a16="http://schemas.microsoft.com/office/drawing/2014/main" id="{85017CC6-FF74-4751-ADA0-C6DAB4BE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D6C8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7C6D6-63A0-4DA7-973C-9F069F9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BRANDION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4E3F9-2049-46C2-93D3-C968AE66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956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Marke &amp; Compliance</a:t>
            </a:r>
          </a:p>
        </p:txBody>
      </p:sp>
      <p:sp>
        <p:nvSpPr>
          <p:cNvPr id="20" name="app-checkion">
            <a:extLst xmlns:a="http://schemas.openxmlformats.org/drawingml/2006/main">
              <a:ext uri="{FF2B5EF4-FFF2-40B4-BE49-F238E27FC236}">
                <a16:creationId xmlns:a16="http://schemas.microsoft.com/office/drawing/2014/main" id="{48863234-E8D7-41A6-ACCA-8508AB7F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38650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BFF3C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DD21E-6A0A-4C24-A3D6-41AA6640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482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CHECKION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19F3D6-99AB-4D66-9A2B-F1D226B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768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Digitale Qualität &amp; GEO</a:t>
            </a:r>
          </a:p>
        </p:txBody>
      </p:sp>
      <p:sp>
        <p:nvSpPr>
          <p:cNvPr id="23" name="ecosystem-bottom-line">
            <a:extLst xmlns:a="http://schemas.openxmlformats.org/drawingml/2006/main">
              <a:ext uri="{FF2B5EF4-FFF2-40B4-BE49-F238E27FC236}">
                <a16:creationId xmlns:a16="http://schemas.microsoft.com/office/drawing/2014/main" id="{3BAC0926-E0B8-483E-B8E7-BE524CC9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721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0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Ein gemeinsamer Kontext. Spezialisierte fachliche Tiefe.</a:t>
            </a:r>
          </a:p>
        </p:txBody>
      </p:sp>
    </p:spTree>
    <p:extLst>
      <p:ext uri="{BB962C8B-B14F-4D97-AF65-F5344CB8AC3E}">
        <p14:creationId xmlns:p14="http://schemas.microsoft.com/office/powerpoint/2010/main" val="714399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4">
            <a:extLst xmlns:a="http://schemas.openxmlformats.org/drawingml/2006/main">
              <a:ext uri="{FF2B5EF4-FFF2-40B4-BE49-F238E27FC236}">
                <a16:creationId xmlns:a16="http://schemas.microsoft.com/office/drawing/2014/main" id="{B3F89F91-805D-4975-9C4A-D8D10DC1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CONTROL PLANE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29197EB-4739-4200-A823-6E32B570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2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PLEXON hält den Kontext zusammen – die Apps behalten ihre Tiefe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47389bf1941e1"/>
          <a:stretch xmlns:a="http://schemas.openxmlformats.org/drawingml/2006/main"/>
        </p:blipFill>
        <p:spPr>
          <a:xfrm xmlns:a="http://schemas.openxmlformats.org/drawingml/2006/main">
            <a:off x="10353832" y="209550"/>
            <a:ext cx="1180785" cy="476250"/>
          </a:xfrm>
          <a:prstGeom xmlns:a="http://schemas.openxmlformats.org/drawingml/2006/main" prst="rect">
            <a:avLst/>
          </a:prstGeom>
        </p:spPr>
      </p:pic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F3E09EE4-D74F-4FD2-893D-7EE90C31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5" name="plexon-lead">
            <a:extLst xmlns:a="http://schemas.openxmlformats.org/drawingml/2006/main">
              <a:ext uri="{FF2B5EF4-FFF2-40B4-BE49-F238E27FC236}">
                <a16:creationId xmlns:a16="http://schemas.microsoft.com/office/drawing/2014/main" id="{8FFCD43E-D3E5-429E-A018-F5176906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Ein Projekt wird zur Collection: ein gemeinsamer Arbeitsraum für Wissen, Fähigkeiten und Entscheidungen.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E6CA5-3936-42C5-8A08-590C0F74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575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D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8B7D9-B9F0-4794-86A8-DA9C2321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5D4F9-62CF-4D20-8EE2-C1DDFF96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Wissen bündeln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DCC75-9243-468C-B41F-AAFB2E0B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3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0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Research Briefs, Quellen und Ergebnisse bleiben über den gesamten Lebenszyklus nutzbar.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41335-12AE-4B1C-ABD9-301AD83E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05100"/>
            <a:ext cx="32575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35285-CB3E-4FCA-882E-22829A0E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527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FA10E-002E-4C9A-9A1D-146B6716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76625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Arbeit orchestrieren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8A0DF-AC51-48ED-B351-F5C3358C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0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Assistant und Flows verbinden spezialisierte Fähigkeiten zu kontrollierten Abläufen.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187B7-2BA7-41D1-9D71-1F2D734B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05100"/>
            <a:ext cx="32575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BFF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93668-2BED-4BFD-A1DB-BBBAB365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225CE-938D-4FDB-BAD5-4298D24B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76625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74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Entscheidungen sichern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8E8A9-F830-49AB-AA33-38A41044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95750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0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Runs, Reports, Berechtigungen und Übergaben werden nachvollziehbar.</a:t>
            </a:r>
          </a:p>
        </p:txBody>
      </p:sp>
      <p:sp>
        <p:nvSpPr>
          <p:cNvPr id="18" name="plexon-benefit">
            <a:extLst xmlns:a="http://schemas.openxmlformats.org/drawingml/2006/main">
              <a:ext uri="{FF2B5EF4-FFF2-40B4-BE49-F238E27FC236}">
                <a16:creationId xmlns:a16="http://schemas.microsoft.com/office/drawing/2014/main" id="{222D7865-53CF-4C46-B07D-16BD0525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412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Nutzen: weniger Kontextverlust, weniger Doppelarbeit, mehr Wiederverwendbarkeit.</a:t>
            </a:r>
          </a:p>
        </p:txBody>
      </p:sp>
    </p:spTree>
    <p:extLst>
      <p:ext uri="{BB962C8B-B14F-4D97-AF65-F5344CB8AC3E}">
        <p14:creationId xmlns:p14="http://schemas.microsoft.com/office/powerpoint/2010/main" val="1781896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5">
            <a:extLst xmlns:a="http://schemas.openxmlformats.org/drawingml/2006/main">
              <a:ext uri="{FF2B5EF4-FFF2-40B4-BE49-F238E27FC236}">
                <a16:creationId xmlns:a16="http://schemas.microsoft.com/office/drawing/2014/main" id="{B11080AD-5DEA-4460-BC7A-09231E83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ECHON · MARKET INTELLIGENCE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35224CE-5A4E-424F-8C89-AD5BA835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3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Marktdynamik wird früh sichtbar und erklärbar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a45df79924202"/>
          <a:stretch xmlns:a="http://schemas.openxmlformats.org/drawingml/2006/main"/>
        </p:blipFill>
        <p:spPr>
          <a:xfrm xmlns:a="http://schemas.openxmlformats.org/drawingml/2006/main">
            <a:off x="10353832" y="209550"/>
            <a:ext cx="1180785" cy="476250"/>
          </a:xfrm>
          <a:prstGeom xmlns:a="http://schemas.openxmlformats.org/drawingml/2006/main" prst="rect">
            <a:avLst/>
          </a:prstGeom>
        </p:spPr>
      </p:pic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287B468F-E2C2-4CA1-969B-9AA49900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5" name="echon-question">
            <a:extLst xmlns:a="http://schemas.openxmlformats.org/drawingml/2006/main">
              <a:ext uri="{FF2B5EF4-FFF2-40B4-BE49-F238E27FC236}">
                <a16:creationId xmlns:a16="http://schemas.microsoft.com/office/drawing/2014/main" id="{F073C1F4-1D0D-4B24-828A-99FF7EBE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5191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Was bewegt unseren Markt – und was bedeutet es für uns?</a:t>
            </a:r>
          </a:p>
        </p:txBody>
      </p:sp>
      <p:sp>
        <p:nvSpPr>
          <p:cNvPr id="6" name="echon-lead">
            <a:extLst xmlns:a="http://schemas.openxmlformats.org/drawingml/2006/main">
              <a:ext uri="{FF2B5EF4-FFF2-40B4-BE49-F238E27FC236}">
                <a16:creationId xmlns:a16="http://schemas.microsoft.com/office/drawing/2014/main" id="{1A818C32-2AB1-4CB7-969A-ECE3982B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E8E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EAE8E8"/>
                </a:solidFill>
                <a:latin typeface="Noto Sans JP Light"/>
                <a:ea typeface="Noto Sans JP Light"/>
                <a:cs typeface="Noto Sans JP Light"/>
              </a:rPr>
              <a:t>ECHON verdichtet Signale zu Themenlinien und Research mit nachvollziehbarer Evidenz.</a:t>
            </a:r>
          </a:p>
        </p:txBody>
      </p:sp>
      <p:sp>
        <p:nvSpPr>
          <p:cNvPr id="7" name="echon-function-panel">
            <a:extLst xmlns:a="http://schemas.openxmlformats.org/drawingml/2006/main">
              <a:ext uri="{FF2B5EF4-FFF2-40B4-BE49-F238E27FC236}">
                <a16:creationId xmlns:a16="http://schemas.microsoft.com/office/drawing/2014/main" id="{64B64A11-00D1-46FF-8E45-49E46822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57325"/>
            <a:ext cx="535305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BFF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chon-functions-label">
            <a:extLst xmlns:a="http://schemas.openxmlformats.org/drawingml/2006/main">
              <a:ext uri="{FF2B5EF4-FFF2-40B4-BE49-F238E27FC236}">
                <a16:creationId xmlns:a16="http://schemas.microsoft.com/office/drawing/2014/main" id="{B78C39A1-583A-4EC5-ACA6-E68F0A04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526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WAS DIE APP LEISTET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0FA7C-4E09-4953-B415-8A4EFC6C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812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0" name="echon-function-1">
            <a:extLst xmlns:a="http://schemas.openxmlformats.org/drawingml/2006/main">
              <a:ext uri="{FF2B5EF4-FFF2-40B4-BE49-F238E27FC236}">
                <a16:creationId xmlns:a16="http://schemas.microsoft.com/office/drawing/2014/main" id="{64C261B2-1B73-4ADB-B6D4-5DA73332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812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Signale und Quellen strukturieren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87AB6-E51A-4A3F-AB7A-9C0A6788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289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2" name="echon-function-2">
            <a:extLst xmlns:a="http://schemas.openxmlformats.org/drawingml/2006/main">
              <a:ext uri="{FF2B5EF4-FFF2-40B4-BE49-F238E27FC236}">
                <a16:creationId xmlns:a16="http://schemas.microsoft.com/office/drawing/2014/main" id="{E2DA8C89-242F-4D0F-9931-56C5B8DC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289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Waves und Dynamiken erkennen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AA03D-3629-4CC8-8D90-069A8C5C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4" name="echon-function-3">
            <a:extLst xmlns:a="http://schemas.openxmlformats.org/drawingml/2006/main">
              <a:ext uri="{FF2B5EF4-FFF2-40B4-BE49-F238E27FC236}">
                <a16:creationId xmlns:a16="http://schemas.microsoft.com/office/drawing/2014/main" id="{2D93CE77-D4B0-4461-8AF4-6E3BEDE0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766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Research mit Quellenbezug unterstützen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AE2C4-A314-4D9B-8182-DD0BB5C8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KUNDENNUTZEN</a:t>
            </a:r>
          </a:p>
        </p:txBody>
      </p:sp>
      <p:sp>
        <p:nvSpPr>
          <p:cNvPr id="16" name="echon-benefit">
            <a:extLst xmlns:a="http://schemas.openxmlformats.org/drawingml/2006/main">
              <a:ext uri="{FF2B5EF4-FFF2-40B4-BE49-F238E27FC236}">
                <a16:creationId xmlns:a16="http://schemas.microsoft.com/office/drawing/2014/main" id="{82BCB5A7-8ED5-4508-8B4B-2FE0E94F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Teams erkennen relevante Bewegungen früher und übersetzen sie schneller in konkrete Fragen.</a:t>
            </a:r>
          </a:p>
        </p:txBody>
      </p:sp>
    </p:spTree>
    <p:extLst>
      <p:ext uri="{BB962C8B-B14F-4D97-AF65-F5344CB8AC3E}">
        <p14:creationId xmlns:p14="http://schemas.microsoft.com/office/powerpoint/2010/main" val="1398399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6">
            <a:extLst xmlns:a="http://schemas.openxmlformats.org/drawingml/2006/main">
              <a:ext uri="{FF2B5EF4-FFF2-40B4-BE49-F238E27FC236}">
                <a16:creationId xmlns:a16="http://schemas.microsoft.com/office/drawing/2014/main" id="{731EEE89-04C9-42D6-8EAE-2A666C2F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AUDION · PERSONA INTELLIGENCE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2918CBB-B615-4432-B971-7C2A42DE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536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Zielgruppen werden zu aktiven Sparringspartnern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a92620ae94370"/>
          <a:stretch xmlns:a="http://schemas.openxmlformats.org/drawingml/2006/main"/>
        </p:blipFill>
        <p:spPr>
          <a:xfrm xmlns:a="http://schemas.openxmlformats.org/drawingml/2006/main">
            <a:off x="10353832" y="209550"/>
            <a:ext cx="1180785" cy="476250"/>
          </a:xfrm>
          <a:prstGeom xmlns:a="http://schemas.openxmlformats.org/drawingml/2006/main" prst="rect">
            <a:avLst/>
          </a:prstGeom>
        </p:spPr>
      </p:pic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D8CB4A4F-54DE-4633-9A0C-91F8560B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sp>
        <p:nvSpPr>
          <p:cNvPr id="5" name="audion-question">
            <a:extLst xmlns:a="http://schemas.openxmlformats.org/drawingml/2006/main">
              <a:ext uri="{FF2B5EF4-FFF2-40B4-BE49-F238E27FC236}">
                <a16:creationId xmlns:a16="http://schemas.microsoft.com/office/drawing/2014/main" id="{B92C534A-8F68-4B6C-806F-A83D1BE8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5191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Wie könnte unsere Zielgruppe reagieren – und warum?</a:t>
            </a:r>
          </a:p>
        </p:txBody>
      </p:sp>
      <p:sp>
        <p:nvSpPr>
          <p:cNvPr id="6" name="audion-lead">
            <a:extLst xmlns:a="http://schemas.openxmlformats.org/drawingml/2006/main">
              <a:ext uri="{FF2B5EF4-FFF2-40B4-BE49-F238E27FC236}">
                <a16:creationId xmlns:a16="http://schemas.microsoft.com/office/drawing/2014/main" id="{91AEA038-A354-4971-A835-B511DDC9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AUDION macht aus Research anwendbare Zielgruppen, Personas und wiederholbare Verhaltensevidenz.</a:t>
            </a:r>
          </a:p>
        </p:txBody>
      </p:sp>
      <p:sp>
        <p:nvSpPr>
          <p:cNvPr id="7" name="audion-function-panel">
            <a:extLst xmlns:a="http://schemas.openxmlformats.org/drawingml/2006/main">
              <a:ext uri="{FF2B5EF4-FFF2-40B4-BE49-F238E27FC236}">
                <a16:creationId xmlns:a16="http://schemas.microsoft.com/office/drawing/2014/main" id="{D30386D2-C767-401E-B55D-C888554C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57325"/>
            <a:ext cx="535305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D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udion-functions-label">
            <a:extLst xmlns:a="http://schemas.openxmlformats.org/drawingml/2006/main">
              <a:ext uri="{FF2B5EF4-FFF2-40B4-BE49-F238E27FC236}">
                <a16:creationId xmlns:a16="http://schemas.microsoft.com/office/drawing/2014/main" id="{99F85249-CEE3-44F6-ABA5-AC0F2AD2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526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WAS DIE APP LEISTET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6C5A4-14DE-46E5-B204-3A23DD32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812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0" name="audion-function-1">
            <a:extLst xmlns:a="http://schemas.openxmlformats.org/drawingml/2006/main">
              <a:ext uri="{FF2B5EF4-FFF2-40B4-BE49-F238E27FC236}">
                <a16:creationId xmlns:a16="http://schemas.microsoft.com/office/drawing/2014/main" id="{C801DEE7-1055-4BDE-92A3-8F7D1D69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812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08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Research in Zielgruppen und Personas übersetzen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9FFD0-AA26-4B70-B4EF-1E998C0B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289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2" name="audion-function-2">
            <a:extLst xmlns:a="http://schemas.openxmlformats.org/drawingml/2006/main">
              <a:ext uri="{FF2B5EF4-FFF2-40B4-BE49-F238E27FC236}">
                <a16:creationId xmlns:a16="http://schemas.microsoft.com/office/drawing/2014/main" id="{0C4586CB-DBE8-4FFE-A8B6-AB8528C7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289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Personas befragen und vergleichen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81139-E9AE-46EF-A460-3CFA63F6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4" name="audion-function-3">
            <a:extLst xmlns:a="http://schemas.openxmlformats.org/drawingml/2006/main">
              <a:ext uri="{FF2B5EF4-FFF2-40B4-BE49-F238E27FC236}">
                <a16:creationId xmlns:a16="http://schemas.microsoft.com/office/drawing/2014/main" id="{8E2ACE70-C008-4DC8-81E9-55BBA83E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766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Journeys und Hypothesen wiederholbar testen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B0449-854C-4466-A743-72B43747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KUNDENNUTZEN</a:t>
            </a:r>
          </a:p>
        </p:txBody>
      </p:sp>
      <p:sp>
        <p:nvSpPr>
          <p:cNvPr id="16" name="audion-benefit">
            <a:extLst xmlns:a="http://schemas.openxmlformats.org/drawingml/2006/main">
              <a:ext uri="{FF2B5EF4-FFF2-40B4-BE49-F238E27FC236}">
                <a16:creationId xmlns:a16="http://schemas.microsoft.com/office/drawing/2014/main" id="{E26801C5-B435-468F-8B7D-9695FD12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Ideen werden früher gechallengt – mit klarer Trennung zwischen Quelle, Interpretation und Simulation.</a:t>
            </a:r>
          </a:p>
        </p:txBody>
      </p:sp>
    </p:spTree>
    <p:extLst>
      <p:ext uri="{BB962C8B-B14F-4D97-AF65-F5344CB8AC3E}">
        <p14:creationId xmlns:p14="http://schemas.microsoft.com/office/powerpoint/2010/main" val="801642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7">
            <a:extLst xmlns:a="http://schemas.openxmlformats.org/drawingml/2006/main">
              <a:ext uri="{FF2B5EF4-FFF2-40B4-BE49-F238E27FC236}">
                <a16:creationId xmlns:a16="http://schemas.microsoft.com/office/drawing/2014/main" id="{0B613471-2B73-447D-AF60-12B9BCCA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CHECKION · DIGITAL QUALITY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E9AECDA-0901-4F83-A690-A2C11449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23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Digitale Qualität wird kontinuierlich messbar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c515dbf2b4b12"/>
          <a:stretch xmlns:a="http://schemas.openxmlformats.org/drawingml/2006/main"/>
        </p:blipFill>
        <p:spPr>
          <a:xfrm xmlns:a="http://schemas.openxmlformats.org/drawingml/2006/main">
            <a:off x="10353832" y="209550"/>
            <a:ext cx="1180785" cy="476250"/>
          </a:xfrm>
          <a:prstGeom xmlns:a="http://schemas.openxmlformats.org/drawingml/2006/main" prst="rect">
            <a:avLst/>
          </a:prstGeom>
        </p:spPr>
      </p:pic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1394F59B-7425-4A87-BB8C-EBC858D3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sp>
        <p:nvSpPr>
          <p:cNvPr id="5" name="checkion-question">
            <a:extLst xmlns:a="http://schemas.openxmlformats.org/drawingml/2006/main">
              <a:ext uri="{FF2B5EF4-FFF2-40B4-BE49-F238E27FC236}">
                <a16:creationId xmlns:a16="http://schemas.microsoft.com/office/drawing/2014/main" id="{9D349C4E-36F0-4B82-86C1-D253131A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5191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Wie steht unser digitaler Auftritt – technisch und inhaltlich?</a:t>
            </a:r>
          </a:p>
        </p:txBody>
      </p:sp>
      <p:sp>
        <p:nvSpPr>
          <p:cNvPr id="6" name="checkion-lead">
            <a:extLst xmlns:a="http://schemas.openxmlformats.org/drawingml/2006/main">
              <a:ext uri="{FF2B5EF4-FFF2-40B4-BE49-F238E27FC236}">
                <a16:creationId xmlns:a16="http://schemas.microsoft.com/office/drawing/2014/main" id="{9A9122C2-11D2-44F0-A15A-CB211008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CHECKION verbindet Web-Qualität, Barrierefreiheit, SEO und AI-Sichtbarkeit in wiederholbaren Prüfungen.</a:t>
            </a:r>
          </a:p>
        </p:txBody>
      </p:sp>
      <p:sp>
        <p:nvSpPr>
          <p:cNvPr id="7" name="checkion-function-panel">
            <a:extLst xmlns:a="http://schemas.openxmlformats.org/drawingml/2006/main">
              <a:ext uri="{FF2B5EF4-FFF2-40B4-BE49-F238E27FC236}">
                <a16:creationId xmlns:a16="http://schemas.microsoft.com/office/drawing/2014/main" id="{D4FA01C7-DF07-43AB-A865-3ECCDE38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57325"/>
            <a:ext cx="535305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BFF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eckion-functions-label">
            <a:extLst xmlns:a="http://schemas.openxmlformats.org/drawingml/2006/main">
              <a:ext uri="{FF2B5EF4-FFF2-40B4-BE49-F238E27FC236}">
                <a16:creationId xmlns:a16="http://schemas.microsoft.com/office/drawing/2014/main" id="{AB1D79EB-4404-493E-B8BA-CCD7EC77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526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WAS DIE APP LEISTET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A6E6E-F0FD-43C4-A3E5-DBFA50B8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812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0" name="checkion-function-1">
            <a:extLst xmlns:a="http://schemas.openxmlformats.org/drawingml/2006/main">
              <a:ext uri="{FF2B5EF4-FFF2-40B4-BE49-F238E27FC236}">
                <a16:creationId xmlns:a16="http://schemas.microsoft.com/office/drawing/2014/main" id="{A721320E-0F06-4787-9F5A-B0D73175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812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Seiten und Domains prüfen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CCA49-4342-493A-8AB5-53E8432C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289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2" name="checkion-function-2">
            <a:extLst xmlns:a="http://schemas.openxmlformats.org/drawingml/2006/main">
              <a:ext uri="{FF2B5EF4-FFF2-40B4-BE49-F238E27FC236}">
                <a16:creationId xmlns:a16="http://schemas.microsoft.com/office/drawing/2014/main" id="{BC513199-FBEE-4139-BC35-35A1B7BB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289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1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WCAG, SEO, Performance und GEO bewerten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914C7-CEA0-4BC5-9BE1-53EC97C1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4" name="checkion-function-3">
            <a:extLst xmlns:a="http://schemas.openxmlformats.org/drawingml/2006/main">
              <a:ext uri="{FF2B5EF4-FFF2-40B4-BE49-F238E27FC236}">
                <a16:creationId xmlns:a16="http://schemas.microsoft.com/office/drawing/2014/main" id="{B4F8F8C5-A2F9-45F1-8EDE-C05D78F1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766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Befunde teilen und erneut messen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7322B-7E7F-47F9-904D-5EB78139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KUNDENNUTZEN</a:t>
            </a:r>
          </a:p>
        </p:txBody>
      </p:sp>
      <p:sp>
        <p:nvSpPr>
          <p:cNvPr id="16" name="checkion-benefit">
            <a:extLst xmlns:a="http://schemas.openxmlformats.org/drawingml/2006/main">
              <a:ext uri="{FF2B5EF4-FFF2-40B4-BE49-F238E27FC236}">
                <a16:creationId xmlns:a16="http://schemas.microsoft.com/office/drawing/2014/main" id="{BB88271F-6C81-41C6-A719-49B8E316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Marketing, IT und Compliance arbeiten auf einer gemeinsamen, priorisierbaren Messlage.</a:t>
            </a:r>
          </a:p>
        </p:txBody>
      </p:sp>
    </p:spTree>
    <p:extLst>
      <p:ext uri="{BB962C8B-B14F-4D97-AF65-F5344CB8AC3E}">
        <p14:creationId xmlns:p14="http://schemas.microsoft.com/office/powerpoint/2010/main" val="604508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8">
            <a:extLst xmlns:a="http://schemas.openxmlformats.org/drawingml/2006/main">
              <a:ext uri="{FF2B5EF4-FFF2-40B4-BE49-F238E27FC236}">
                <a16:creationId xmlns:a16="http://schemas.microsoft.com/office/drawing/2014/main" id="{50D91932-4C0F-48FF-AA98-84A29698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BRANDION · BRAND GOVERNANCE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C5E94FE-D495-4221-A984-1BD650C5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795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Markenregeln werden maschinenlesbar und prüfbar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9685735bc471f"/>
          <a:stretch xmlns:a="http://schemas.openxmlformats.org/drawingml/2006/main"/>
        </p:blipFill>
        <p:spPr>
          <a:xfrm xmlns:a="http://schemas.openxmlformats.org/drawingml/2006/main">
            <a:off x="10353832" y="209550"/>
            <a:ext cx="1180785" cy="476250"/>
          </a:xfrm>
          <a:prstGeom xmlns:a="http://schemas.openxmlformats.org/drawingml/2006/main" prst="rect">
            <a:avLst/>
          </a:prstGeom>
        </p:spPr>
      </p:pic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66B2A0F8-494A-44D6-AC60-66861D3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  <p:sp>
        <p:nvSpPr>
          <p:cNvPr id="5" name="brandion-question">
            <a:extLst xmlns:a="http://schemas.openxmlformats.org/drawingml/2006/main">
              <a:ext uri="{FF2B5EF4-FFF2-40B4-BE49-F238E27FC236}">
                <a16:creationId xmlns:a16="http://schemas.microsoft.com/office/drawing/2014/main" id="{47358AC0-4F72-424B-A561-F40C9836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5191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Entspricht dieses Asset unserer aktiven Marke?</a:t>
            </a:r>
          </a:p>
        </p:txBody>
      </p:sp>
      <p:sp>
        <p:nvSpPr>
          <p:cNvPr id="6" name="brandion-lead">
            <a:extLst xmlns:a="http://schemas.openxmlformats.org/drawingml/2006/main">
              <a:ext uri="{FF2B5EF4-FFF2-40B4-BE49-F238E27FC236}">
                <a16:creationId xmlns:a16="http://schemas.microsoft.com/office/drawing/2014/main" id="{DA3F00BB-6F35-4554-944C-A6002A4D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E8E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EAE8E8"/>
                </a:solidFill>
                <a:latin typeface="Noto Sans JP Light"/>
                <a:ea typeface="Noto Sans JP Light"/>
                <a:cs typeface="Noto Sans JP Light"/>
              </a:rPr>
              <a:t>BRANDION verbindet Guidelines und Design Tokens mit evidenzbasierten Compliance-Prüfungen.</a:t>
            </a:r>
          </a:p>
        </p:txBody>
      </p:sp>
      <p:sp>
        <p:nvSpPr>
          <p:cNvPr id="7" name="brandion-function-panel">
            <a:extLst xmlns:a="http://schemas.openxmlformats.org/drawingml/2006/main">
              <a:ext uri="{FF2B5EF4-FFF2-40B4-BE49-F238E27FC236}">
                <a16:creationId xmlns:a16="http://schemas.microsoft.com/office/drawing/2014/main" id="{33065831-172A-4724-9804-E30F2978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57325"/>
            <a:ext cx="535305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D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randion-functions-label">
            <a:extLst xmlns:a="http://schemas.openxmlformats.org/drawingml/2006/main">
              <a:ext uri="{FF2B5EF4-FFF2-40B4-BE49-F238E27FC236}">
                <a16:creationId xmlns:a16="http://schemas.microsoft.com/office/drawing/2014/main" id="{FF05F276-3CEA-4A00-98FE-C8AA6B83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526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WAS DIE APP LEISTET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F9332-834C-4E86-A72D-59741C41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812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0" name="brandion-function-1">
            <a:extLst xmlns:a="http://schemas.openxmlformats.org/drawingml/2006/main">
              <a:ext uri="{FF2B5EF4-FFF2-40B4-BE49-F238E27FC236}">
                <a16:creationId xmlns:a16="http://schemas.microsoft.com/office/drawing/2014/main" id="{7ADFEA23-37E1-45DE-89F8-AF612165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812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Guidelines und Tokens zentral verwalten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32DCD-60D6-4DDF-97F3-22CF2205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289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2" name="brandion-function-2">
            <a:extLst xmlns:a="http://schemas.openxmlformats.org/drawingml/2006/main">
              <a:ext uri="{FF2B5EF4-FFF2-40B4-BE49-F238E27FC236}">
                <a16:creationId xmlns:a16="http://schemas.microsoft.com/office/drawing/2014/main" id="{6E11E3FF-6DF8-4A28-8F01-8499E7CE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289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Compliance-Regeln definieren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AB13F-E121-41B3-9FDE-1D3216AC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4" name="brandion-function-3">
            <a:extLst xmlns:a="http://schemas.openxmlformats.org/drawingml/2006/main">
              <a:ext uri="{FF2B5EF4-FFF2-40B4-BE49-F238E27FC236}">
                <a16:creationId xmlns:a16="http://schemas.microsoft.com/office/drawing/2014/main" id="{6E6EFE1D-1513-4F8E-B305-4677A199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766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PDF, Bild, HTML, CSS und DTCG prüfen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1B419-8968-49C4-BF98-3A484631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KUNDENNUTZEN</a:t>
            </a:r>
          </a:p>
        </p:txBody>
      </p:sp>
      <p:sp>
        <p:nvSpPr>
          <p:cNvPr id="16" name="brandion-benefit">
            <a:extLst xmlns:a="http://schemas.openxmlformats.org/drawingml/2006/main">
              <a:ext uri="{FF2B5EF4-FFF2-40B4-BE49-F238E27FC236}">
                <a16:creationId xmlns:a16="http://schemas.microsoft.com/office/drawing/2014/main" id="{66DBE58A-1FD0-4E9F-B2DC-BF088D2C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Markenqualität wird nachvollziehbar – von der Gestaltung bis zur Freigabe.</a:t>
            </a:r>
          </a:p>
        </p:txBody>
      </p:sp>
    </p:spTree>
    <p:extLst>
      <p:ext uri="{BB962C8B-B14F-4D97-AF65-F5344CB8AC3E}">
        <p14:creationId xmlns:p14="http://schemas.microsoft.com/office/powerpoint/2010/main" val="1337251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EF1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9">
            <a:extLst xmlns:a="http://schemas.openxmlformats.org/drawingml/2006/main">
              <a:ext uri="{FF2B5EF4-FFF2-40B4-BE49-F238E27FC236}">
                <a16:creationId xmlns:a16="http://schemas.microsoft.com/office/drawing/2014/main" id="{FD5C693F-4568-454D-A712-A004FD65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CREATION · CREATIVE WORKBENCH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111B47C8-494C-4663-8D14-C3462D13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473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Aus Briefings werden markenkonsistente Anwendungen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ea4c096e64ea3"/>
          <a:stretch xmlns:a="http://schemas.openxmlformats.org/drawingml/2006/main"/>
        </p:blipFill>
        <p:spPr>
          <a:xfrm xmlns:a="http://schemas.openxmlformats.org/drawingml/2006/main">
            <a:off x="10353832" y="209550"/>
            <a:ext cx="1180785" cy="476250"/>
          </a:xfrm>
          <a:prstGeom xmlns:a="http://schemas.openxmlformats.org/drawingml/2006/main" prst="rect">
            <a:avLst/>
          </a:prstGeom>
        </p:spPr>
      </p:pic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99FF08C8-247C-4C9E-A5CA-7F74E93F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  <p:sp>
        <p:nvSpPr>
          <p:cNvPr id="5" name="creation-question">
            <a:extLst xmlns:a="http://schemas.openxmlformats.org/drawingml/2006/main">
              <a:ext uri="{FF2B5EF4-FFF2-40B4-BE49-F238E27FC236}">
                <a16:creationId xmlns:a16="http://schemas.microsoft.com/office/drawing/2014/main" id="{26EAB53C-B887-4FAF-B814-6F15BFC1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5191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16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Wie übersetzen wir Wissen schnell in konkrete digitale Varianten?</a:t>
            </a:r>
          </a:p>
        </p:txBody>
      </p:sp>
      <p:sp>
        <p:nvSpPr>
          <p:cNvPr id="6" name="creation-lead">
            <a:extLst xmlns:a="http://schemas.openxmlformats.org/drawingml/2006/main">
              <a:ext uri="{FF2B5EF4-FFF2-40B4-BE49-F238E27FC236}">
                <a16:creationId xmlns:a16="http://schemas.microsoft.com/office/drawing/2014/main" id="{7E9D3B24-800D-4584-985C-45E644F9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CREATION verbindet Agenten, Komponenten, Layouts und Brand Tokens in einer steuerbaren Arbeitsumgebung.</a:t>
            </a:r>
          </a:p>
        </p:txBody>
      </p:sp>
      <p:sp>
        <p:nvSpPr>
          <p:cNvPr id="7" name="creation-function-panel">
            <a:extLst xmlns:a="http://schemas.openxmlformats.org/drawingml/2006/main">
              <a:ext uri="{FF2B5EF4-FFF2-40B4-BE49-F238E27FC236}">
                <a16:creationId xmlns:a16="http://schemas.microsoft.com/office/drawing/2014/main" id="{F9884EDB-B6BD-4D4A-B02E-C5123053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57325"/>
            <a:ext cx="535305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reation-functions-label">
            <a:extLst xmlns:a="http://schemas.openxmlformats.org/drawingml/2006/main">
              <a:ext uri="{FF2B5EF4-FFF2-40B4-BE49-F238E27FC236}">
                <a16:creationId xmlns:a16="http://schemas.microsoft.com/office/drawing/2014/main" id="{B06BC0B2-8D1B-4171-8D10-BB27E745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526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WAS DIE APP LEISTET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24053-1ED4-49BB-A8A4-69DB3FFE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812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0" name="creation-function-1">
            <a:extLst xmlns:a="http://schemas.openxmlformats.org/drawingml/2006/main">
              <a:ext uri="{FF2B5EF4-FFF2-40B4-BE49-F238E27FC236}">
                <a16:creationId xmlns:a16="http://schemas.microsoft.com/office/drawing/2014/main" id="{00B87DD4-F6FD-4253-BD25-A71A6FEF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812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Layouts und Kompositionen aufbauen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57163-4030-465E-862C-8EC59C27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289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2" name="creation-function-2">
            <a:extLst xmlns:a="http://schemas.openxmlformats.org/drawingml/2006/main">
              <a:ext uri="{FF2B5EF4-FFF2-40B4-BE49-F238E27FC236}">
                <a16:creationId xmlns:a16="http://schemas.microsoft.com/office/drawing/2014/main" id="{70FC121E-E295-4990-BC0A-C9BEE2CE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289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Szenen agentisch bearbeiten und auditieren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B606A-85D2-41CD-843B-E6977FED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256B6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14" name="creation-function-3">
            <a:extLst xmlns:a="http://schemas.openxmlformats.org/drawingml/2006/main">
              <a:ext uri="{FF2B5EF4-FFF2-40B4-BE49-F238E27FC236}">
                <a16:creationId xmlns:a16="http://schemas.microsoft.com/office/drawing/2014/main" id="{86ECB26F-834E-4017-A190-3A841BE1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766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Aktive Brandion-Tokens direkt anwenden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4B364-C9C2-4B85-A7FB-BECFAFFB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KUNDENNUTZEN</a:t>
            </a:r>
          </a:p>
        </p:txBody>
      </p:sp>
      <p:sp>
        <p:nvSpPr>
          <p:cNvPr id="16" name="creation-benefit">
            <a:extLst xmlns:a="http://schemas.openxmlformats.org/drawingml/2006/main">
              <a:ext uri="{FF2B5EF4-FFF2-40B4-BE49-F238E27FC236}">
                <a16:creationId xmlns:a16="http://schemas.microsoft.com/office/drawing/2014/main" id="{637E1E94-14C2-4AE8-A9C1-AE3AE654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Teams kommen schneller vom Briefing zum prüfbaren Artefakt – ohne Markenlogik zu duplizieren.</a:t>
            </a:r>
          </a:p>
        </p:txBody>
      </p:sp>
    </p:spTree>
    <p:extLst>
      <p:ext uri="{BB962C8B-B14F-4D97-AF65-F5344CB8AC3E}">
        <p14:creationId xmlns:p14="http://schemas.microsoft.com/office/powerpoint/2010/main" val="1941514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10">
            <a:extLst xmlns:a="http://schemas.openxmlformats.org/drawingml/2006/main">
              <a:ext uri="{FF2B5EF4-FFF2-40B4-BE49-F238E27FC236}">
                <a16:creationId xmlns:a16="http://schemas.microsoft.com/office/drawing/2014/main" id="{89501D89-6EB3-4160-85E0-49E5E1A5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ZUSAMMENSPIEL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E742C743-51D2-40EF-A3E7-74E319E2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642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Der Mehrwert entsteht im geschlossenen Kreislauf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8503031c746b2"/>
          <a:stretch xmlns:a="http://schemas.openxmlformats.org/drawingml/2006/main"/>
        </p:blipFill>
        <p:spPr>
          <a:xfrm xmlns:a="http://schemas.openxmlformats.org/drawingml/2006/main">
            <a:off x="10353832" y="209550"/>
            <a:ext cx="1180785" cy="476250"/>
          </a:xfrm>
          <a:prstGeom xmlns:a="http://schemas.openxmlformats.org/drawingml/2006/main" prst="rect">
            <a:avLst/>
          </a:prstGeom>
        </p:spPr>
      </p:pic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ACED0167-9097-4ABD-845D-37E37D3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5" name="loop-1">
            <a:extLst xmlns:a="http://schemas.openxmlformats.org/drawingml/2006/main">
              <a:ext uri="{FF2B5EF4-FFF2-40B4-BE49-F238E27FC236}">
                <a16:creationId xmlns:a16="http://schemas.microsoft.com/office/drawing/2014/main" id="{BDF39F74-DCDE-48C8-B934-31FD7E97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885950" cy="2476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BFF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D5C43-1721-4047-89B0-DDADE410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6D47F-2556-4673-BAD9-532507E4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Verstehen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70B42-1051-4B9F-80E8-49CEE8F4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ECHON + AUDION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71913-6A72-4D73-99C2-7F5EA929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194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0" name="loop-2">
            <a:extLst xmlns:a="http://schemas.openxmlformats.org/drawingml/2006/main">
              <a:ext uri="{FF2B5EF4-FFF2-40B4-BE49-F238E27FC236}">
                <a16:creationId xmlns:a16="http://schemas.microsoft.com/office/drawing/2014/main" id="{14B3F417-B53B-4563-BB66-47018B12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00250"/>
            <a:ext cx="1885950" cy="2476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D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306A4-0B80-4B04-9B0F-74BCB7CD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47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14958-4D32-4B9C-9C5F-5AA1ADCA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57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63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Entscheiden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C0939-C241-4948-B415-2C266C2E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PLEXON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9C678-D636-492B-B2A2-C89017B1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194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5" name="loop-3">
            <a:extLst xmlns:a="http://schemas.openxmlformats.org/drawingml/2006/main">
              <a:ext uri="{FF2B5EF4-FFF2-40B4-BE49-F238E27FC236}">
                <a16:creationId xmlns:a16="http://schemas.microsoft.com/office/drawing/2014/main" id="{6232F2E2-E3DC-4BDE-A590-66BCEDA7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1885950" cy="2476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6F3FD-80DE-4CC4-A437-091DB85D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47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B5011-467C-4839-8B1C-54C5E5AC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Gestalten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2CA5F-5B9D-43FF-B322-98F53770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CREATION + BRANDION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1CB06-276F-43FE-89E3-313215FA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194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0" name="loop-4">
            <a:extLst xmlns:a="http://schemas.openxmlformats.org/drawingml/2006/main">
              <a:ext uri="{FF2B5EF4-FFF2-40B4-BE49-F238E27FC236}">
                <a16:creationId xmlns:a16="http://schemas.microsoft.com/office/drawing/2014/main" id="{D78BCAD8-BFA7-492B-AC49-1EB7165B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00250"/>
            <a:ext cx="1885950" cy="2476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BFF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B110D4-C79E-477A-94C8-020BE108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AE176-6499-4E12-A035-F53B988C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Validieren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7C451-3597-43FE-B1A4-6A9395D4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AUDION + CHECKION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CD343-35D6-4423-B5D7-EB8D3A12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194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5" name="loop-5">
            <a:extLst xmlns:a="http://schemas.openxmlformats.org/drawingml/2006/main">
              <a:ext uri="{FF2B5EF4-FFF2-40B4-BE49-F238E27FC236}">
                <a16:creationId xmlns:a16="http://schemas.microsoft.com/office/drawing/2014/main" id="{EB700469-B0FA-4CB8-83FD-8EBAC505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885950" cy="2476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D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83642E-58FF-4E41-BA61-810840BC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47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553043-F0A7-406A-B4AF-11F22E1B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Govern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4FB154-717A-4E24-9A54-D4A162EC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242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35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BRANDION + PLEXON</a:t>
            </a:r>
          </a:p>
        </p:txBody>
      </p:sp>
      <p:sp>
        <p:nvSpPr>
          <p:cNvPr id="29" name="loop-benefit">
            <a:extLst xmlns:a="http://schemas.openxmlformats.org/drawingml/2006/main">
              <a:ext uri="{FF2B5EF4-FFF2-40B4-BE49-F238E27FC236}">
                <a16:creationId xmlns:a16="http://schemas.microsoft.com/office/drawing/2014/main" id="{0E913F4A-7D17-4A25-800B-22D0F6BE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91125"/>
            <a:ext cx="979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Jeder Durchlauf erweitert die gemeinsame Wissensbasis – statt beim nächsten Projekt wieder bei null zu starten.</a:t>
            </a:r>
          </a:p>
        </p:txBody>
      </p:sp>
    </p:spTree>
    <p:extLst>
      <p:ext uri="{BB962C8B-B14F-4D97-AF65-F5344CB8AC3E}">
        <p14:creationId xmlns:p14="http://schemas.microsoft.com/office/powerpoint/2010/main" val="15756036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11">
            <a:extLst xmlns:a="http://schemas.openxmlformats.org/drawingml/2006/main">
              <a:ext uri="{FF2B5EF4-FFF2-40B4-BE49-F238E27FC236}">
                <a16:creationId xmlns:a16="http://schemas.microsoft.com/office/drawing/2014/main" id="{72369ADF-A78A-4B97-9D30-7DB794ED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WIRKUNG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76349F78-A51D-4A53-B164-1A312697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049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Drei Perspektiven profitieren vom selben System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1c6a58d624fcc"/>
          <a:stretch xmlns:a="http://schemas.openxmlformats.org/drawingml/2006/main"/>
        </p:blipFill>
        <p:spPr>
          <a:xfrm xmlns:a="http://schemas.openxmlformats.org/drawingml/2006/main">
            <a:off x="10353832" y="209550"/>
            <a:ext cx="1180785" cy="476250"/>
          </a:xfrm>
          <a:prstGeom xmlns:a="http://schemas.openxmlformats.org/drawingml/2006/main" prst="rect">
            <a:avLst/>
          </a:prstGeom>
        </p:spPr>
      </p:pic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13E976CB-5715-4948-B956-B4D61751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78D50-D54D-4509-8E20-2038EC48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524250" cy="4095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0828A-4CB7-42C6-9532-30FCBC4B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145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FÜR IHR UNTERNEHMEN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062D9-2813-42AE-AB8D-475EF14F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3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Mehr Steuerbarkeit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A5B90-FD3D-470C-A7F0-453B7FD8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75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— Gemeinsame Evidenz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78D5F-50C2-4664-BF3D-1A763152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75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— Wiederholbare Governance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02CBC-1C7F-4031-9A40-9C62ED76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75" b="0">
                <a:solidFill>
                  <a:srgbClr val="FFFFFF"/>
                </a:solidFill>
                <a:latin typeface="Noto Sans JP Light"/>
                <a:ea typeface="Noto Sans JP Light"/>
                <a:cs typeface="Noto Sans JP Light"/>
              </a:rPr>
              <a:t>— Skalierbare Qualität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774C1-7702-454A-8FC5-1A930F47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81150"/>
            <a:ext cx="3524250" cy="4095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25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E3283-6BFB-45CE-8874-DCC978BC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145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FÜR IHRE 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575B4-608C-4FD7-A89E-325864E8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574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Weniger Reibung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33528-B361-4E0F-8F1D-4C0C3B03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86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75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— Kontext bleibt erhalten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D726D-4FC0-43B0-9ABA-7F959860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00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75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— Schnellere Iteration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DEA6B-BEDF-46D8-A9FC-F04F1C43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148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75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— Klare Übergaben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B97C5-6128-444F-9E4A-681A0705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81150"/>
            <a:ext cx="3524250" cy="4095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EF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9DCCB5-47C6-46B1-A9CB-B5F276C5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145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defRPr>
            </a:pPr>
            <a:r>
              <a:rPr sz="1125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FÜR DIE ZUSAMMENARBEIT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4666F-4BBF-4B8C-ACCB-A57420E9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Mehr Lernkurve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42BB3-9251-4661-B4B6-4FA36C0F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75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— Wiederverwendbare Workflows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7612D-8DEA-4DDC-BE52-61CAADD9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75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— Transparente Entscheidungen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10E95-3FDF-4D52-B62C-D9083914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75" b="0">
                <a:solidFill>
                  <a:srgbClr val="000000"/>
                </a:solidFill>
                <a:latin typeface="Noto Sans JP Light"/>
                <a:ea typeface="Noto Sans JP Light"/>
                <a:cs typeface="Noto Sans JP Light"/>
              </a:rPr>
              <a:t>— Kontinuierliche Verbesserung</a:t>
            </a:r>
          </a:p>
        </p:txBody>
      </p:sp>
    </p:spTree>
    <p:extLst>
      <p:ext uri="{BB962C8B-B14F-4D97-AF65-F5344CB8AC3E}">
        <p14:creationId xmlns:p14="http://schemas.microsoft.com/office/powerpoint/2010/main" val="15830627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12">
            <a:extLst xmlns:a="http://schemas.openxmlformats.org/drawingml/2006/main">
              <a:ext uri="{FF2B5EF4-FFF2-40B4-BE49-F238E27FC236}">
                <a16:creationId xmlns:a16="http://schemas.microsoft.com/office/drawing/2014/main" id="{70930640-9A8B-40AC-A279-A84854EE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ARCHITEKTURPRINZIP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37507D85-F587-49DF-97CF-EE0C6B3E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029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Modular starten. Gezielt erweitern. Kontrolle behalten.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80c815aa94c0a"/>
          <a:stretch xmlns:a="http://schemas.openxmlformats.org/drawingml/2006/main"/>
        </p:blipFill>
        <p:spPr>
          <a:xfrm xmlns:a="http://schemas.openxmlformats.org/drawingml/2006/main">
            <a:off x="10353832" y="209550"/>
            <a:ext cx="1180785" cy="476250"/>
          </a:xfrm>
          <a:prstGeom xmlns:a="http://schemas.openxmlformats.org/drawingml/2006/main" prst="rect">
            <a:avLst/>
          </a:prstGeom>
        </p:spPr>
      </p:pic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7ED55636-589A-4579-AD34-04FC52A6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67BB5-E48B-4DE8-878C-8FFC3594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1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88289-D74E-47DB-8CBB-091930C1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764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2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Spezialisierte Verantwortung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875B0-BEC9-4EF9-B855-43196F7E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E8E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EAE8E8"/>
                </a:solidFill>
                <a:latin typeface="Noto Sans JP Light"/>
                <a:ea typeface="Noto Sans JP Light"/>
                <a:cs typeface="Noto Sans JP Light"/>
              </a:rPr>
              <a:t>Jede App bleibt Source of Truth für ihre fachlichen Ergebnisse.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604D1-6EC5-4C92-AE6B-93236135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81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B7D6A-3604-4A44-8588-A06638EB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Kontrollierte Orchestrierung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E70B1-16F9-409F-8DCC-CDD88CC0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E8E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EAE8E8"/>
                </a:solidFill>
                <a:latin typeface="Noto Sans JP Light"/>
                <a:ea typeface="Noto Sans JP Light"/>
                <a:cs typeface="Noto Sans JP Light"/>
              </a:rPr>
              <a:t>Geschlossene Capabilities, Freigaben und nachvollziehbare Runs statt Black Box.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538A0-9791-4D53-BC41-2012AC7E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81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48202-022A-425D-B3F3-178C322A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33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Offen für Integrationen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B0DA9-DC73-4BBE-B377-08DE6CDD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E8E8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650" b="0">
                <a:solidFill>
                  <a:srgbClr val="EAE8E8"/>
                </a:solidFill>
                <a:latin typeface="Noto Sans JP Light"/>
                <a:ea typeface="Noto Sans JP Light"/>
                <a:cs typeface="Noto Sans JP Light"/>
              </a:rPr>
              <a:t>APIs und MCP binden vorhandene Systeme und ausgewählte Spezialtools ein.</a:t>
            </a:r>
          </a:p>
        </p:txBody>
      </p:sp>
      <p:sp>
        <p:nvSpPr>
          <p:cNvPr id="14" name="principles-bottom-line">
            <a:extLst xmlns:a="http://schemas.openxmlformats.org/drawingml/2006/main">
              <a:ext uri="{FF2B5EF4-FFF2-40B4-BE49-F238E27FC236}">
                <a16:creationId xmlns:a16="http://schemas.microsoft.com/office/drawing/2014/main" id="{F7155E88-DD71-423A-9FFB-A6D065FC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02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EF14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FEF14D"/>
                </a:solidFill>
                <a:latin typeface="Noto Sans JP"/>
                <a:ea typeface="Noto Sans JP"/>
                <a:cs typeface="Noto Sans JP"/>
              </a:rPr>
              <a:t>So entsteht kein monolithisches Tool – sondern ein wachsendes, steuerbares Ökosystem.</a:t>
            </a:r>
          </a:p>
        </p:txBody>
      </p:sp>
    </p:spTree>
    <p:extLst>
      <p:ext uri="{BB962C8B-B14F-4D97-AF65-F5344CB8AC3E}">
        <p14:creationId xmlns:p14="http://schemas.microsoft.com/office/powerpoint/2010/main" val="2989084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3">
            <a:extLst xmlns:a="http://schemas.openxmlformats.org/drawingml/2006/main">
              <a:ext uri="{FF2B5EF4-FFF2-40B4-BE49-F238E27FC236}">
                <a16:creationId xmlns:a16="http://schemas.microsoft.com/office/drawing/2014/main" id="{183B69F1-73A5-463F-8963-4D086E78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256B6"/>
                </a:solidFill>
                <a:latin typeface="IBM Plex Mono"/>
                <a:ea typeface="IBM Plex Mono"/>
                <a:cs typeface="IBM Plex Mono"/>
              </a:rPr>
              <a:t>EINSTIEG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F139A59B-1C42-4750-9EB4-5452B5B0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818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Der beste Start ist ein echter Case mit einem geschlossenen Loop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283c7e49a46e9"/>
          <a:stretch xmlns:a="http://schemas.openxmlformats.org/drawingml/2006/main"/>
        </p:blipFill>
        <p:spPr>
          <a:xfrm xmlns:a="http://schemas.openxmlformats.org/drawingml/2006/main">
            <a:off x="10353832" y="209550"/>
            <a:ext cx="1180785" cy="476250"/>
          </a:xfrm>
          <a:prstGeom xmlns:a="http://schemas.openxmlformats.org/drawingml/2006/main" prst="rect">
            <a:avLst/>
          </a:prstGeom>
        </p:spPr>
      </p:pic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D9D72A4C-99CB-44EE-84E0-7488B57B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16E6B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2E8C3-5686-4D34-A78A-40476003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2575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D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857DC-99F2-4C7B-A4B6-6D9B5794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104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6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70729-DF23-404B-A0A8-E5CD2286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reale Frage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4B668-5C3C-47E7-828C-8D0D9417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647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0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mit sichtbarem Entscheidungsdruck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A42C4-7F2E-4CAC-9061-62800D4A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28800"/>
            <a:ext cx="32575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14DDD-C22A-4AC7-87DA-85BB1C5A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104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6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0A3BD-7B13-4B83-8A6B-A091889B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Collection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4C336-3457-4E1F-8111-9BF12D6E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48100"/>
            <a:ext cx="2647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0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als gemeinsamer Wissens- und Arbeitsraum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B3072-8D20-4CF1-8640-5F29505A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28800"/>
            <a:ext cx="32575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BFF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DBF22-396B-48C1-AAE3-4646AB39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104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66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3F7AD-56E1-446E-AC58-9690AA86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messbarer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B08513-E3FE-429A-8AD9-411A3D12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48100"/>
            <a:ext cx="2647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defRPr>
            </a:pPr>
            <a:r>
              <a:rPr sz="1500" b="0">
                <a:solidFill>
                  <a:srgbClr val="716E6B"/>
                </a:solidFill>
                <a:latin typeface="Noto Sans JP Light"/>
                <a:ea typeface="Noto Sans JP Light"/>
                <a:cs typeface="Noto Sans JP Light"/>
              </a:rPr>
              <a:t>vom Kontext bis zur validierten Entscheidung</a:t>
            </a:r>
          </a:p>
        </p:txBody>
      </p:sp>
      <p:sp>
        <p:nvSpPr>
          <p:cNvPr id="17" name="pilot-result">
            <a:extLst xmlns:a="http://schemas.openxmlformats.org/drawingml/2006/main">
              <a:ext uri="{FF2B5EF4-FFF2-40B4-BE49-F238E27FC236}">
                <a16:creationId xmlns:a16="http://schemas.microsoft.com/office/drawing/2014/main" id="{F2C46AF8-1D2F-4B22-8744-0ABA7EF2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14950"/>
            <a:ext cx="971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Das Ergebnis: ein funktionierender Prozess und eine belastbare Roadmap für die nächsten Fähigkeiten.</a:t>
            </a:r>
          </a:p>
        </p:txBody>
      </p:sp>
    </p:spTree>
    <p:extLst>
      <p:ext uri="{BB962C8B-B14F-4D97-AF65-F5344CB8AC3E}">
        <p14:creationId xmlns:p14="http://schemas.microsoft.com/office/powerpoint/2010/main" val="7578313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56B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751f45090426c"/>
          <a:stretch xmlns:a="http://schemas.openxmlformats.org/drawingml/2006/main"/>
        </p:blipFill>
        <p:spPr>
          <a:xfrm xmlns:a="http://schemas.openxmlformats.org/drawingml/2006/main">
            <a:off x="653210" y="361950"/>
            <a:ext cx="1322479" cy="533400"/>
          </a:xfrm>
          <a:prstGeom xmlns:a="http://schemas.openxmlformats.org/drawingml/2006/main" prst="rect">
            <a:avLst/>
          </a:prstGeom>
        </p:spPr>
      </p:pic>
      <p:sp>
        <p:nvSpPr>
          <p:cNvPr id="2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12836AA9-E8CB-469A-8C2B-5F428E7D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239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5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Ein Kontext.</a:t>
            </a:r>
          </a:p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5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Fünf Spezialisten.</a:t>
            </a:r>
          </a:p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5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Ein lernender Kreislauf.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15197-CAAF-43EC-BC2E-D817C2A5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defRPr>
            </a:pPr>
            <a:r>
              <a:rPr sz="1725" b="0">
                <a:solidFill>
                  <a:srgbClr val="000000"/>
                </a:solidFill>
                <a:latin typeface="IBM Plex Mono"/>
                <a:ea typeface="IBM Plex Mono"/>
                <a:cs typeface="IBM Plex Mono"/>
              </a:rPr>
              <a:t>PLEXON AI Suite · MSQ DX</a:t>
            </a:r>
          </a:p>
        </p:txBody>
      </p:sp>
      <p:sp>
        <p:nvSpPr>
          <p:cNvPr id="4" name="closing-cta">
            <a:extLst xmlns:a="http://schemas.openxmlformats.org/drawingml/2006/main">
              <a:ext uri="{FF2B5EF4-FFF2-40B4-BE49-F238E27FC236}">
                <a16:creationId xmlns:a16="http://schemas.microsoft.com/office/drawing/2014/main" id="{EF1FD863-A9BD-4E95-B526-33FAEEB4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62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995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Lassen Sie uns mit Ihrem realen Case starten.</a:t>
            </a:r>
          </a:p>
        </p:txBody>
      </p:sp>
    </p:spTree>
    <p:extLst>
      <p:ext uri="{BB962C8B-B14F-4D97-AF65-F5344CB8AC3E}">
        <p14:creationId xmlns:p14="http://schemas.microsoft.com/office/powerpoint/2010/main" val="1897904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2026-08-25T13:57:43.5680000Z</dcterms:created>
  <dcterms:modified xsi:type="dcterms:W3CDTF">2026-08-25T13:57:43.5680000Z</dcterms:modified>
</coreProperties>
</file>